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77" d="100"/>
          <a:sy n="77" d="100"/>
        </p:scale>
        <p:origin x="912"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6_3">
  <dgm:title val=""/>
  <dgm:desc val=""/>
  <dgm:catLst>
    <dgm:cat type="accent6" pri="11300"/>
  </dgm:catLst>
  <dgm:styleLbl name="node0">
    <dgm:fillClrLst meth="repeat">
      <a:schemeClr val="accent6">
        <a:shade val="80000"/>
      </a:schemeClr>
    </dgm:fillClrLst>
    <dgm:linClrLst meth="repeat">
      <a:schemeClr val="lt1"/>
    </dgm:linClrLst>
    <dgm:effectClrLst/>
    <dgm:txLinClrLst/>
    <dgm:txFillClrLst/>
    <dgm:txEffectClrLst/>
  </dgm:styleLbl>
  <dgm:styleLbl name="node1">
    <dgm:fillClrLst>
      <a:schemeClr val="accent6">
        <a:shade val="80000"/>
      </a:schemeClr>
      <a:schemeClr val="accent6">
        <a:tint val="70000"/>
      </a:schemeClr>
    </dgm:fillClrLst>
    <dgm:linClrLst meth="repeat">
      <a:schemeClr val="lt1"/>
    </dgm:linClrLst>
    <dgm:effectClrLst/>
    <dgm:txLinClrLst/>
    <dgm:txFillClrLst/>
    <dgm:txEffectClrLst/>
  </dgm:styleLbl>
  <dgm:styleLbl name="alignNode1">
    <dgm:fillClrLst>
      <a:schemeClr val="accent6">
        <a:shade val="80000"/>
      </a:schemeClr>
      <a:schemeClr val="accent6">
        <a:tint val="70000"/>
      </a:schemeClr>
    </dgm:fillClrLst>
    <dgm:linClrLst>
      <a:schemeClr val="accent6">
        <a:shade val="80000"/>
      </a:schemeClr>
      <a:schemeClr val="accent6">
        <a:tint val="70000"/>
      </a:schemeClr>
    </dgm:linClrLst>
    <dgm:effectClrLst/>
    <dgm:txLinClrLst/>
    <dgm:txFillClrLst/>
    <dgm:txEffectClrLst/>
  </dgm:styleLbl>
  <dgm:styleLbl name="lnNode1">
    <dgm:fillClrLst>
      <a:schemeClr val="accent6">
        <a:shade val="80000"/>
      </a:schemeClr>
      <a:schemeClr val="accent6">
        <a:tint val="7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tint val="70000"/>
        <a:alpha val="50000"/>
      </a:schemeClr>
    </dgm:fillClrLst>
    <dgm:linClrLst meth="repeat">
      <a:schemeClr val="lt1"/>
    </dgm:linClrLst>
    <dgm:effectClrLst/>
    <dgm:txLinClrLst/>
    <dgm:txFillClrLst/>
    <dgm:txEffectClrLst/>
  </dgm:styleLbl>
  <dgm:styleLbl name="node2">
    <dgm:fillClrLst>
      <a:schemeClr val="accent6">
        <a:tint val="99000"/>
      </a:schemeClr>
    </dgm:fillClrLst>
    <dgm:linClrLst meth="repeat">
      <a:schemeClr val="lt1"/>
    </dgm:linClrLst>
    <dgm:effectClrLst/>
    <dgm:txLinClrLst/>
    <dgm:txFillClrLst/>
    <dgm:txEffectClrLst/>
  </dgm:styleLbl>
  <dgm:styleLbl name="node3">
    <dgm:fillClrLst>
      <a:schemeClr val="accent6">
        <a:tint val="80000"/>
      </a:schemeClr>
    </dgm:fillClrLst>
    <dgm:linClrLst meth="repeat">
      <a:schemeClr val="lt1"/>
    </dgm:linClrLst>
    <dgm:effectClrLst/>
    <dgm:txLinClrLst/>
    <dgm:txFillClrLst/>
    <dgm:txEffectClrLst/>
  </dgm:styleLbl>
  <dgm:styleLbl name="node4">
    <dgm:fillClrLst>
      <a:schemeClr val="accent6">
        <a:tint val="70000"/>
      </a:schemeClr>
    </dgm:fillClrLst>
    <dgm:linClrLst meth="repeat">
      <a:schemeClr val="lt1"/>
    </dgm:linClrLst>
    <dgm:effectClrLst/>
    <dgm:txLinClrLst/>
    <dgm:txFillClrLst/>
    <dgm:txEffectClrLst/>
  </dgm:styleLbl>
  <dgm:styleLbl name="f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dgm:txEffectClrLst/>
  </dgm:styleLbl>
  <dgm:styleLbl name="fg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lt1"/>
    </dgm:txFillClrLst>
    <dgm:txEffectClrLst/>
  </dgm:styleLbl>
  <dgm:styleLbl name="bg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lt1"/>
    </dgm:txFillClrLst>
    <dgm:txEffectClrLst/>
  </dgm:styleLbl>
  <dgm:styleLbl name="sibTrans1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shade val="80000"/>
      </a:schemeClr>
    </dgm:fillClrLst>
    <dgm:linClrLst meth="repeat">
      <a:schemeClr val="lt1"/>
    </dgm:linClrLst>
    <dgm:effectClrLst/>
    <dgm:txLinClrLst/>
    <dgm:txFillClrLst/>
    <dgm:txEffectClrLst/>
  </dgm:styleLbl>
  <dgm:styleLbl name="asst1">
    <dgm:fillClrLst meth="repeat">
      <a:schemeClr val="accent6">
        <a:shade val="80000"/>
      </a:schemeClr>
    </dgm:fillClrLst>
    <dgm:linClrLst meth="repeat">
      <a:schemeClr val="lt1"/>
    </dgm:linClrLst>
    <dgm:effectClrLst/>
    <dgm:txLinClrLst/>
    <dgm:txFillClrLst/>
    <dgm:txEffectClrLst/>
  </dgm:styleLbl>
  <dgm:styleLbl name="asst2">
    <dgm:fillClrLst>
      <a:schemeClr val="accent6">
        <a:tint val="99000"/>
      </a:schemeClr>
    </dgm:fillClrLst>
    <dgm:linClrLst meth="repeat">
      <a:schemeClr val="lt1"/>
    </dgm:linClrLst>
    <dgm:effectClrLst/>
    <dgm:txLinClrLst/>
    <dgm:txFillClrLst/>
    <dgm:txEffectClrLst/>
  </dgm:styleLbl>
  <dgm:styleLbl name="asst3">
    <dgm:fillClrLst>
      <a:schemeClr val="accent6">
        <a:tint val="80000"/>
      </a:schemeClr>
    </dgm:fillClrLst>
    <dgm:linClrLst meth="repeat">
      <a:schemeClr val="lt1"/>
    </dgm:linClrLst>
    <dgm:effectClrLst/>
    <dgm:txLinClrLst/>
    <dgm:txFillClrLst/>
    <dgm:txEffectClrLst/>
  </dgm:styleLbl>
  <dgm:styleLbl name="asst4">
    <dgm:fillClrLst>
      <a:schemeClr val="accent6">
        <a:tint val="70000"/>
      </a:schemeClr>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lt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9000"/>
      </a:schemeClr>
    </dgm:fillClrLst>
    <dgm:linClrLst meth="repeat">
      <a:schemeClr val="accent6">
        <a:tint val="99000"/>
      </a:schemeClr>
    </dgm:linClrLst>
    <dgm:effectClrLst/>
    <dgm:txLinClrLst/>
    <dgm:txFillClrLst meth="repeat">
      <a:schemeClr val="tx1"/>
    </dgm:txFillClrLst>
    <dgm:txEffectClrLst/>
  </dgm:styleLbl>
  <dgm:styleLbl name="parChTrans1D3">
    <dgm:fillClrLst meth="repeat">
      <a:schemeClr val="accent6">
        <a:tint val="80000"/>
      </a:schemeClr>
    </dgm:fillClrLst>
    <dgm:linClrLst meth="repeat">
      <a:schemeClr val="accent6">
        <a:tint val="80000"/>
      </a:schemeClr>
    </dgm:linClrLst>
    <dgm:effectClrLst/>
    <dgm:txLinClrLst/>
    <dgm:txFillClrLst meth="repeat">
      <a:schemeClr val="tx1"/>
    </dgm:txFillClrLst>
    <dgm:txEffectClrLst/>
  </dgm:styleLbl>
  <dgm:styleLbl name="parChTrans1D4">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6">
        <a:shade val="80000"/>
      </a:schemeClr>
      <a:schemeClr val="accent6">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11116ED-862D-4E7A-8A62-17D447965F63}" type="doc">
      <dgm:prSet loTypeId="urn:microsoft.com/office/officeart/2005/8/layout/vList2" loCatId="list" qsTypeId="urn:microsoft.com/office/officeart/2005/8/quickstyle/simple1" qsCatId="simple" csTypeId="urn:microsoft.com/office/officeart/2005/8/colors/accent6_3" csCatId="accent6"/>
      <dgm:spPr/>
      <dgm:t>
        <a:bodyPr/>
        <a:lstStyle/>
        <a:p>
          <a:endParaRPr lang="en-IN"/>
        </a:p>
      </dgm:t>
    </dgm:pt>
    <dgm:pt modelId="{4E2510E8-7F3A-4DEF-9AAC-E23168F893B7}">
      <dgm:prSet custT="1"/>
      <dgm:spPr/>
      <dgm:t>
        <a:bodyPr/>
        <a:lstStyle/>
        <a:p>
          <a:pPr algn="ctr"/>
          <a:r>
            <a:rPr lang="en-US" sz="4400" b="1" dirty="0"/>
            <a:t>Smart parking System</a:t>
          </a:r>
          <a:br>
            <a:rPr lang="en-US" sz="3300" b="1" dirty="0"/>
          </a:br>
          <a:r>
            <a:rPr lang="en-US" sz="1800" b="1" dirty="0"/>
            <a:t>Using Arduino and Ultrasonic sensor</a:t>
          </a:r>
          <a:endParaRPr lang="en-IN" sz="1800" dirty="0"/>
        </a:p>
      </dgm:t>
    </dgm:pt>
    <dgm:pt modelId="{CE186EA9-20D9-43CE-9FAC-5295442328EB}" type="parTrans" cxnId="{39F1CA54-E392-4279-8249-C7212C28B9FF}">
      <dgm:prSet/>
      <dgm:spPr/>
      <dgm:t>
        <a:bodyPr/>
        <a:lstStyle/>
        <a:p>
          <a:endParaRPr lang="en-IN"/>
        </a:p>
      </dgm:t>
    </dgm:pt>
    <dgm:pt modelId="{EF197DCE-A198-4A1F-9616-7841584E4D65}" type="sibTrans" cxnId="{39F1CA54-E392-4279-8249-C7212C28B9FF}">
      <dgm:prSet/>
      <dgm:spPr/>
      <dgm:t>
        <a:bodyPr/>
        <a:lstStyle/>
        <a:p>
          <a:endParaRPr lang="en-IN"/>
        </a:p>
      </dgm:t>
    </dgm:pt>
    <dgm:pt modelId="{1C1A9698-47EA-4AEF-999B-158F7CFA8826}" type="pres">
      <dgm:prSet presAssocID="{211116ED-862D-4E7A-8A62-17D447965F63}" presName="linear" presStyleCnt="0">
        <dgm:presLayoutVars>
          <dgm:animLvl val="lvl"/>
          <dgm:resizeHandles val="exact"/>
        </dgm:presLayoutVars>
      </dgm:prSet>
      <dgm:spPr/>
    </dgm:pt>
    <dgm:pt modelId="{7A84B0BC-3C95-4E64-A140-94EFABEF0757}" type="pres">
      <dgm:prSet presAssocID="{4E2510E8-7F3A-4DEF-9AAC-E23168F893B7}" presName="parentText" presStyleLbl="node1" presStyleIdx="0" presStyleCnt="1" custLinFactNeighborY="1616">
        <dgm:presLayoutVars>
          <dgm:chMax val="0"/>
          <dgm:bulletEnabled val="1"/>
        </dgm:presLayoutVars>
      </dgm:prSet>
      <dgm:spPr/>
    </dgm:pt>
  </dgm:ptLst>
  <dgm:cxnLst>
    <dgm:cxn modelId="{DAE4BE5E-DA57-450F-BAB4-48724AB310C4}" type="presOf" srcId="{4E2510E8-7F3A-4DEF-9AAC-E23168F893B7}" destId="{7A84B0BC-3C95-4E64-A140-94EFABEF0757}" srcOrd="0" destOrd="0" presId="urn:microsoft.com/office/officeart/2005/8/layout/vList2"/>
    <dgm:cxn modelId="{39F1CA54-E392-4279-8249-C7212C28B9FF}" srcId="{211116ED-862D-4E7A-8A62-17D447965F63}" destId="{4E2510E8-7F3A-4DEF-9AAC-E23168F893B7}" srcOrd="0" destOrd="0" parTransId="{CE186EA9-20D9-43CE-9FAC-5295442328EB}" sibTransId="{EF197DCE-A198-4A1F-9616-7841584E4D65}"/>
    <dgm:cxn modelId="{E7ED09FF-6179-4AE7-A3E1-6389D8625029}" type="presOf" srcId="{211116ED-862D-4E7A-8A62-17D447965F63}" destId="{1C1A9698-47EA-4AEF-999B-158F7CFA8826}" srcOrd="0" destOrd="0" presId="urn:microsoft.com/office/officeart/2005/8/layout/vList2"/>
    <dgm:cxn modelId="{280CCF56-08A3-412A-B780-5E9001E55AFD}" type="presParOf" srcId="{1C1A9698-47EA-4AEF-999B-158F7CFA8826}" destId="{7A84B0BC-3C95-4E64-A140-94EFABEF0757}"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84B0BC-3C95-4E64-A140-94EFABEF0757}">
      <dsp:nvSpPr>
        <dsp:cNvPr id="0" name=""/>
        <dsp:cNvSpPr/>
      </dsp:nvSpPr>
      <dsp:spPr>
        <a:xfrm>
          <a:off x="0" y="880"/>
          <a:ext cx="10515600" cy="1324682"/>
        </a:xfrm>
        <a:prstGeom prst="roundRect">
          <a:avLst/>
        </a:prstGeom>
        <a:solidFill>
          <a:schemeClr val="accent6">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ctr" defTabSz="1955800">
            <a:lnSpc>
              <a:spcPct val="90000"/>
            </a:lnSpc>
            <a:spcBef>
              <a:spcPct val="0"/>
            </a:spcBef>
            <a:spcAft>
              <a:spcPct val="35000"/>
            </a:spcAft>
            <a:buNone/>
          </a:pPr>
          <a:r>
            <a:rPr lang="en-US" sz="4400" b="1" kern="1200" dirty="0"/>
            <a:t>Smart parking System</a:t>
          </a:r>
          <a:br>
            <a:rPr lang="en-US" sz="3300" b="1" kern="1200" dirty="0"/>
          </a:br>
          <a:r>
            <a:rPr lang="en-US" sz="1800" b="1" kern="1200" dirty="0"/>
            <a:t>Using Arduino and Ultrasonic sensor</a:t>
          </a:r>
          <a:endParaRPr lang="en-IN" sz="1800" kern="1200" dirty="0"/>
        </a:p>
      </dsp:txBody>
      <dsp:txXfrm>
        <a:off x="64666" y="65546"/>
        <a:ext cx="10386268" cy="119535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116FA5-C1C0-4225-A680-CD722A7AF764}" type="datetimeFigureOut">
              <a:rPr lang="en-IN" smtClean="0"/>
              <a:t>30-04-2026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214A9D-FE4B-4007-BE27-C7C874EF0853}" type="slidenum">
              <a:rPr lang="en-IN" smtClean="0"/>
              <a:t>‹#›</a:t>
            </a:fld>
            <a:endParaRPr lang="en-IN"/>
          </a:p>
        </p:txBody>
      </p:sp>
    </p:spTree>
    <p:extLst>
      <p:ext uri="{BB962C8B-B14F-4D97-AF65-F5344CB8AC3E}">
        <p14:creationId xmlns:p14="http://schemas.microsoft.com/office/powerpoint/2010/main" val="19273867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C901B-8E4B-A6A7-8E7D-A65AD5177A3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CE9E340-A2B7-A973-8BEE-123F612E4A1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9D4C6D0-6436-DE63-BF30-E38456EBB25E}"/>
              </a:ext>
            </a:extLst>
          </p:cNvPr>
          <p:cNvSpPr>
            <a:spLocks noGrp="1"/>
          </p:cNvSpPr>
          <p:nvPr>
            <p:ph type="dt" sz="half" idx="10"/>
          </p:nvPr>
        </p:nvSpPr>
        <p:spPr/>
        <p:txBody>
          <a:bodyPr/>
          <a:lstStyle/>
          <a:p>
            <a:fld id="{FA68C388-D747-48CC-92EF-E0A746C7B838}" type="datetime1">
              <a:rPr lang="en-IN" smtClean="0"/>
              <a:t>30-04-2026</a:t>
            </a:fld>
            <a:endParaRPr lang="en-IN"/>
          </a:p>
        </p:txBody>
      </p:sp>
      <p:sp>
        <p:nvSpPr>
          <p:cNvPr id="5" name="Footer Placeholder 4">
            <a:extLst>
              <a:ext uri="{FF2B5EF4-FFF2-40B4-BE49-F238E27FC236}">
                <a16:creationId xmlns:a16="http://schemas.microsoft.com/office/drawing/2014/main" id="{AEFF60CD-3DDD-1F3D-C97A-DE40DF29083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D8799E9-8389-8DF6-5C83-E449BA43DD8A}"/>
              </a:ext>
            </a:extLst>
          </p:cNvPr>
          <p:cNvSpPr>
            <a:spLocks noGrp="1"/>
          </p:cNvSpPr>
          <p:nvPr>
            <p:ph type="sldNum" sz="quarter" idx="12"/>
          </p:nvPr>
        </p:nvSpPr>
        <p:spPr/>
        <p:txBody>
          <a:bodyPr/>
          <a:lstStyle/>
          <a:p>
            <a:fld id="{3DC7128E-BF39-415F-9079-B89CEAC75AA4}" type="slidenum">
              <a:rPr lang="en-IN" smtClean="0"/>
              <a:t>‹#›</a:t>
            </a:fld>
            <a:endParaRPr lang="en-IN"/>
          </a:p>
        </p:txBody>
      </p:sp>
    </p:spTree>
    <p:extLst>
      <p:ext uri="{BB962C8B-B14F-4D97-AF65-F5344CB8AC3E}">
        <p14:creationId xmlns:p14="http://schemas.microsoft.com/office/powerpoint/2010/main" val="771156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1A36C-F787-74F7-6109-DD568DE125D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FAFD412-3B5C-522E-5A0F-04B6C6ED426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BA6D2D0-FA55-55EF-BB8C-9FE0BCA2A3A7}"/>
              </a:ext>
            </a:extLst>
          </p:cNvPr>
          <p:cNvSpPr>
            <a:spLocks noGrp="1"/>
          </p:cNvSpPr>
          <p:nvPr>
            <p:ph type="dt" sz="half" idx="10"/>
          </p:nvPr>
        </p:nvSpPr>
        <p:spPr/>
        <p:txBody>
          <a:bodyPr/>
          <a:lstStyle/>
          <a:p>
            <a:fld id="{DE0A6D52-A162-4AF0-91AA-48CBA19BC640}" type="datetime1">
              <a:rPr lang="en-IN" smtClean="0"/>
              <a:t>30-04-2026</a:t>
            </a:fld>
            <a:endParaRPr lang="en-IN"/>
          </a:p>
        </p:txBody>
      </p:sp>
      <p:sp>
        <p:nvSpPr>
          <p:cNvPr id="5" name="Footer Placeholder 4">
            <a:extLst>
              <a:ext uri="{FF2B5EF4-FFF2-40B4-BE49-F238E27FC236}">
                <a16:creationId xmlns:a16="http://schemas.microsoft.com/office/drawing/2014/main" id="{A66132C1-EB91-3A8D-66AD-F843397C103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BD8CC4-A275-990D-6682-F30166D701A3}"/>
              </a:ext>
            </a:extLst>
          </p:cNvPr>
          <p:cNvSpPr>
            <a:spLocks noGrp="1"/>
          </p:cNvSpPr>
          <p:nvPr>
            <p:ph type="sldNum" sz="quarter" idx="12"/>
          </p:nvPr>
        </p:nvSpPr>
        <p:spPr/>
        <p:txBody>
          <a:bodyPr/>
          <a:lstStyle/>
          <a:p>
            <a:fld id="{3DC7128E-BF39-415F-9079-B89CEAC75AA4}" type="slidenum">
              <a:rPr lang="en-IN" smtClean="0"/>
              <a:t>‹#›</a:t>
            </a:fld>
            <a:endParaRPr lang="en-IN"/>
          </a:p>
        </p:txBody>
      </p:sp>
    </p:spTree>
    <p:extLst>
      <p:ext uri="{BB962C8B-B14F-4D97-AF65-F5344CB8AC3E}">
        <p14:creationId xmlns:p14="http://schemas.microsoft.com/office/powerpoint/2010/main" val="41568335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BF1CA-C858-83E6-5219-DD2BF7D5282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9397068-5DB0-D467-79A2-F4CD15264CC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529AAE0-3C08-DA87-8BA8-6C6E49EDB1BA}"/>
              </a:ext>
            </a:extLst>
          </p:cNvPr>
          <p:cNvSpPr>
            <a:spLocks noGrp="1"/>
          </p:cNvSpPr>
          <p:nvPr>
            <p:ph type="dt" sz="half" idx="10"/>
          </p:nvPr>
        </p:nvSpPr>
        <p:spPr/>
        <p:txBody>
          <a:bodyPr/>
          <a:lstStyle/>
          <a:p>
            <a:fld id="{EC8542CD-79FC-4D77-B339-236AA6638E27}" type="datetime1">
              <a:rPr lang="en-IN" smtClean="0"/>
              <a:t>30-04-2026</a:t>
            </a:fld>
            <a:endParaRPr lang="en-IN"/>
          </a:p>
        </p:txBody>
      </p:sp>
      <p:sp>
        <p:nvSpPr>
          <p:cNvPr id="5" name="Footer Placeholder 4">
            <a:extLst>
              <a:ext uri="{FF2B5EF4-FFF2-40B4-BE49-F238E27FC236}">
                <a16:creationId xmlns:a16="http://schemas.microsoft.com/office/drawing/2014/main" id="{D547F681-90D0-DAE6-A269-4435069698A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CA401CA-E951-40A0-A343-2429494F7A17}"/>
              </a:ext>
            </a:extLst>
          </p:cNvPr>
          <p:cNvSpPr>
            <a:spLocks noGrp="1"/>
          </p:cNvSpPr>
          <p:nvPr>
            <p:ph type="sldNum" sz="quarter" idx="12"/>
          </p:nvPr>
        </p:nvSpPr>
        <p:spPr/>
        <p:txBody>
          <a:bodyPr/>
          <a:lstStyle/>
          <a:p>
            <a:fld id="{3DC7128E-BF39-415F-9079-B89CEAC75AA4}" type="slidenum">
              <a:rPr lang="en-IN" smtClean="0"/>
              <a:t>‹#›</a:t>
            </a:fld>
            <a:endParaRPr lang="en-IN"/>
          </a:p>
        </p:txBody>
      </p:sp>
    </p:spTree>
    <p:extLst>
      <p:ext uri="{BB962C8B-B14F-4D97-AF65-F5344CB8AC3E}">
        <p14:creationId xmlns:p14="http://schemas.microsoft.com/office/powerpoint/2010/main" val="29225356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4A40E-5EEA-F56C-A06B-DCC040BF7D7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BE78A02-78F8-3C6F-0639-128A575B4D6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80772AD-845C-C3CF-C159-351C754CE68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854D697-F27F-4D1F-AF9D-C81D8B6B03F2}"/>
              </a:ext>
            </a:extLst>
          </p:cNvPr>
          <p:cNvSpPr>
            <a:spLocks noGrp="1"/>
          </p:cNvSpPr>
          <p:nvPr>
            <p:ph type="dt" sz="half" idx="10"/>
          </p:nvPr>
        </p:nvSpPr>
        <p:spPr/>
        <p:txBody>
          <a:bodyPr/>
          <a:lstStyle/>
          <a:p>
            <a:fld id="{2C6E2D25-2A5E-48B3-AD64-90F80011C0C6}" type="datetime1">
              <a:rPr lang="en-IN" smtClean="0"/>
              <a:t>30-04-2026</a:t>
            </a:fld>
            <a:endParaRPr lang="en-IN"/>
          </a:p>
        </p:txBody>
      </p:sp>
      <p:sp>
        <p:nvSpPr>
          <p:cNvPr id="6" name="Footer Placeholder 5">
            <a:extLst>
              <a:ext uri="{FF2B5EF4-FFF2-40B4-BE49-F238E27FC236}">
                <a16:creationId xmlns:a16="http://schemas.microsoft.com/office/drawing/2014/main" id="{F7039639-5DEA-65E1-D730-BF1A2774E07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48DCE56-0FB0-A5B0-3EBC-4367D8F4F47D}"/>
              </a:ext>
            </a:extLst>
          </p:cNvPr>
          <p:cNvSpPr>
            <a:spLocks noGrp="1"/>
          </p:cNvSpPr>
          <p:nvPr>
            <p:ph type="sldNum" sz="quarter" idx="12"/>
          </p:nvPr>
        </p:nvSpPr>
        <p:spPr/>
        <p:txBody>
          <a:bodyPr/>
          <a:lstStyle/>
          <a:p>
            <a:fld id="{3DC7128E-BF39-415F-9079-B89CEAC75AA4}" type="slidenum">
              <a:rPr lang="en-IN" smtClean="0"/>
              <a:t>‹#›</a:t>
            </a:fld>
            <a:endParaRPr lang="en-IN"/>
          </a:p>
        </p:txBody>
      </p:sp>
    </p:spTree>
    <p:extLst>
      <p:ext uri="{BB962C8B-B14F-4D97-AF65-F5344CB8AC3E}">
        <p14:creationId xmlns:p14="http://schemas.microsoft.com/office/powerpoint/2010/main" val="23781985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14F2B-08D5-4B24-09F2-5E2294D0EE0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AC33007-32D4-AC9A-F06F-A37BF5986DA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8E7293A-2B6F-9BF1-DF20-5365E02C86D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8A2C476-7CFB-17B8-34B0-2B511B99F42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D35246-22E3-4B72-93D7-E212DAFF6C4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C70A4EB-CAB6-7C9F-86EC-06779CC55F9C}"/>
              </a:ext>
            </a:extLst>
          </p:cNvPr>
          <p:cNvSpPr>
            <a:spLocks noGrp="1"/>
          </p:cNvSpPr>
          <p:nvPr>
            <p:ph type="dt" sz="half" idx="10"/>
          </p:nvPr>
        </p:nvSpPr>
        <p:spPr/>
        <p:txBody>
          <a:bodyPr/>
          <a:lstStyle/>
          <a:p>
            <a:fld id="{555DF4C3-8EE7-4AFA-8883-28C52F2D24C4}" type="datetime1">
              <a:rPr lang="en-IN" smtClean="0"/>
              <a:t>30-04-2026</a:t>
            </a:fld>
            <a:endParaRPr lang="en-IN"/>
          </a:p>
        </p:txBody>
      </p:sp>
      <p:sp>
        <p:nvSpPr>
          <p:cNvPr id="8" name="Footer Placeholder 7">
            <a:extLst>
              <a:ext uri="{FF2B5EF4-FFF2-40B4-BE49-F238E27FC236}">
                <a16:creationId xmlns:a16="http://schemas.microsoft.com/office/drawing/2014/main" id="{09FD4F8A-DB67-A8F3-0029-F9EEF12B36B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4F745C3-51F5-482E-1AC0-5C8B0E7C570B}"/>
              </a:ext>
            </a:extLst>
          </p:cNvPr>
          <p:cNvSpPr>
            <a:spLocks noGrp="1"/>
          </p:cNvSpPr>
          <p:nvPr>
            <p:ph type="sldNum" sz="quarter" idx="12"/>
          </p:nvPr>
        </p:nvSpPr>
        <p:spPr/>
        <p:txBody>
          <a:bodyPr/>
          <a:lstStyle/>
          <a:p>
            <a:fld id="{3DC7128E-BF39-415F-9079-B89CEAC75AA4}" type="slidenum">
              <a:rPr lang="en-IN" smtClean="0"/>
              <a:t>‹#›</a:t>
            </a:fld>
            <a:endParaRPr lang="en-IN"/>
          </a:p>
        </p:txBody>
      </p:sp>
    </p:spTree>
    <p:extLst>
      <p:ext uri="{BB962C8B-B14F-4D97-AF65-F5344CB8AC3E}">
        <p14:creationId xmlns:p14="http://schemas.microsoft.com/office/powerpoint/2010/main" val="9573943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AA6EB-9C85-9F5B-A756-D0C7CCE4BF6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723F037-C9DA-775C-C3AE-B2FEB6DE7DB2}"/>
              </a:ext>
            </a:extLst>
          </p:cNvPr>
          <p:cNvSpPr>
            <a:spLocks noGrp="1"/>
          </p:cNvSpPr>
          <p:nvPr>
            <p:ph type="dt" sz="half" idx="10"/>
          </p:nvPr>
        </p:nvSpPr>
        <p:spPr/>
        <p:txBody>
          <a:bodyPr/>
          <a:lstStyle/>
          <a:p>
            <a:fld id="{228E754B-5B90-4DF1-BE44-B6EA3EF44A0A}" type="datetime1">
              <a:rPr lang="en-IN" smtClean="0"/>
              <a:t>30-04-2026</a:t>
            </a:fld>
            <a:endParaRPr lang="en-IN"/>
          </a:p>
        </p:txBody>
      </p:sp>
      <p:sp>
        <p:nvSpPr>
          <p:cNvPr id="4" name="Footer Placeholder 3">
            <a:extLst>
              <a:ext uri="{FF2B5EF4-FFF2-40B4-BE49-F238E27FC236}">
                <a16:creationId xmlns:a16="http://schemas.microsoft.com/office/drawing/2014/main" id="{33C6C306-C2D7-E4D3-B71A-CB1AA29352B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75C5D6A-7205-BF34-7647-D4AB3659D6D8}"/>
              </a:ext>
            </a:extLst>
          </p:cNvPr>
          <p:cNvSpPr>
            <a:spLocks noGrp="1"/>
          </p:cNvSpPr>
          <p:nvPr>
            <p:ph type="sldNum" sz="quarter" idx="12"/>
          </p:nvPr>
        </p:nvSpPr>
        <p:spPr/>
        <p:txBody>
          <a:bodyPr/>
          <a:lstStyle/>
          <a:p>
            <a:fld id="{3DC7128E-BF39-415F-9079-B89CEAC75AA4}" type="slidenum">
              <a:rPr lang="en-IN" smtClean="0"/>
              <a:t>‹#›</a:t>
            </a:fld>
            <a:endParaRPr lang="en-IN"/>
          </a:p>
        </p:txBody>
      </p:sp>
    </p:spTree>
    <p:extLst>
      <p:ext uri="{BB962C8B-B14F-4D97-AF65-F5344CB8AC3E}">
        <p14:creationId xmlns:p14="http://schemas.microsoft.com/office/powerpoint/2010/main" val="12045633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185E12-1318-7F33-AFC4-78ED0E8C511E}"/>
              </a:ext>
            </a:extLst>
          </p:cNvPr>
          <p:cNvSpPr>
            <a:spLocks noGrp="1"/>
          </p:cNvSpPr>
          <p:nvPr>
            <p:ph type="dt" sz="half" idx="10"/>
          </p:nvPr>
        </p:nvSpPr>
        <p:spPr/>
        <p:txBody>
          <a:bodyPr/>
          <a:lstStyle/>
          <a:p>
            <a:fld id="{11F06F5B-5667-4ACA-B640-2B3F5699DA2C}" type="datetime1">
              <a:rPr lang="en-IN" smtClean="0"/>
              <a:t>30-04-2026</a:t>
            </a:fld>
            <a:endParaRPr lang="en-IN"/>
          </a:p>
        </p:txBody>
      </p:sp>
      <p:sp>
        <p:nvSpPr>
          <p:cNvPr id="3" name="Footer Placeholder 2">
            <a:extLst>
              <a:ext uri="{FF2B5EF4-FFF2-40B4-BE49-F238E27FC236}">
                <a16:creationId xmlns:a16="http://schemas.microsoft.com/office/drawing/2014/main" id="{8A6C6515-5720-EA76-7945-B8C59173013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E281884-33B9-50AD-BD61-9299B60F9A5D}"/>
              </a:ext>
            </a:extLst>
          </p:cNvPr>
          <p:cNvSpPr>
            <a:spLocks noGrp="1"/>
          </p:cNvSpPr>
          <p:nvPr>
            <p:ph type="sldNum" sz="quarter" idx="12"/>
          </p:nvPr>
        </p:nvSpPr>
        <p:spPr/>
        <p:txBody>
          <a:bodyPr/>
          <a:lstStyle/>
          <a:p>
            <a:fld id="{3DC7128E-BF39-415F-9079-B89CEAC75AA4}" type="slidenum">
              <a:rPr lang="en-IN" smtClean="0"/>
              <a:t>‹#›</a:t>
            </a:fld>
            <a:endParaRPr lang="en-IN"/>
          </a:p>
        </p:txBody>
      </p:sp>
    </p:spTree>
    <p:extLst>
      <p:ext uri="{BB962C8B-B14F-4D97-AF65-F5344CB8AC3E}">
        <p14:creationId xmlns:p14="http://schemas.microsoft.com/office/powerpoint/2010/main" val="42365331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D3EDC-9658-FCDF-04C6-5163C7DB04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9FC2C62-ED57-CBA7-A0DB-C9B0FA1719C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34E9091-6B79-6E1F-6551-0096A05EFD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79AE1F-3FB2-5CE5-7255-1B501CD86C11}"/>
              </a:ext>
            </a:extLst>
          </p:cNvPr>
          <p:cNvSpPr>
            <a:spLocks noGrp="1"/>
          </p:cNvSpPr>
          <p:nvPr>
            <p:ph type="dt" sz="half" idx="10"/>
          </p:nvPr>
        </p:nvSpPr>
        <p:spPr/>
        <p:txBody>
          <a:bodyPr/>
          <a:lstStyle/>
          <a:p>
            <a:fld id="{7EF7E21D-1DE3-4672-B1FC-41E09179AD94}" type="datetime1">
              <a:rPr lang="en-IN" smtClean="0"/>
              <a:t>30-04-2026</a:t>
            </a:fld>
            <a:endParaRPr lang="en-IN"/>
          </a:p>
        </p:txBody>
      </p:sp>
      <p:sp>
        <p:nvSpPr>
          <p:cNvPr id="6" name="Footer Placeholder 5">
            <a:extLst>
              <a:ext uri="{FF2B5EF4-FFF2-40B4-BE49-F238E27FC236}">
                <a16:creationId xmlns:a16="http://schemas.microsoft.com/office/drawing/2014/main" id="{0620C260-9328-EBCC-BB51-25E26FA01A0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C0E1EC8-2A8C-32E5-9AA0-122C5A44B816}"/>
              </a:ext>
            </a:extLst>
          </p:cNvPr>
          <p:cNvSpPr>
            <a:spLocks noGrp="1"/>
          </p:cNvSpPr>
          <p:nvPr>
            <p:ph type="sldNum" sz="quarter" idx="12"/>
          </p:nvPr>
        </p:nvSpPr>
        <p:spPr/>
        <p:txBody>
          <a:bodyPr/>
          <a:lstStyle/>
          <a:p>
            <a:fld id="{3DC7128E-BF39-415F-9079-B89CEAC75AA4}" type="slidenum">
              <a:rPr lang="en-IN" smtClean="0"/>
              <a:t>‹#›</a:t>
            </a:fld>
            <a:endParaRPr lang="en-IN"/>
          </a:p>
        </p:txBody>
      </p:sp>
    </p:spTree>
    <p:extLst>
      <p:ext uri="{BB962C8B-B14F-4D97-AF65-F5344CB8AC3E}">
        <p14:creationId xmlns:p14="http://schemas.microsoft.com/office/powerpoint/2010/main" val="33774083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2DC74-2470-643C-0103-E6E638F99F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B45F972-6017-BA9B-7BA6-4492E5CC82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12E2F3A-AAB0-4AC6-D01D-807232AC79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047FBF-841E-A6A0-7D1C-A960BEE1F47A}"/>
              </a:ext>
            </a:extLst>
          </p:cNvPr>
          <p:cNvSpPr>
            <a:spLocks noGrp="1"/>
          </p:cNvSpPr>
          <p:nvPr>
            <p:ph type="dt" sz="half" idx="10"/>
          </p:nvPr>
        </p:nvSpPr>
        <p:spPr/>
        <p:txBody>
          <a:bodyPr/>
          <a:lstStyle/>
          <a:p>
            <a:fld id="{CCC548AB-8A37-4344-B2DB-B3BA5A741693}" type="datetime1">
              <a:rPr lang="en-IN" smtClean="0"/>
              <a:t>30-04-2026</a:t>
            </a:fld>
            <a:endParaRPr lang="en-IN"/>
          </a:p>
        </p:txBody>
      </p:sp>
      <p:sp>
        <p:nvSpPr>
          <p:cNvPr id="6" name="Footer Placeholder 5">
            <a:extLst>
              <a:ext uri="{FF2B5EF4-FFF2-40B4-BE49-F238E27FC236}">
                <a16:creationId xmlns:a16="http://schemas.microsoft.com/office/drawing/2014/main" id="{4B2A9F31-D083-008D-7C7D-507A43E72F4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E1E976B-D126-6FBE-675C-A07E87606B28}"/>
              </a:ext>
            </a:extLst>
          </p:cNvPr>
          <p:cNvSpPr>
            <a:spLocks noGrp="1"/>
          </p:cNvSpPr>
          <p:nvPr>
            <p:ph type="sldNum" sz="quarter" idx="12"/>
          </p:nvPr>
        </p:nvSpPr>
        <p:spPr/>
        <p:txBody>
          <a:bodyPr/>
          <a:lstStyle/>
          <a:p>
            <a:fld id="{3DC7128E-BF39-415F-9079-B89CEAC75AA4}" type="slidenum">
              <a:rPr lang="en-IN" smtClean="0"/>
              <a:t>‹#›</a:t>
            </a:fld>
            <a:endParaRPr lang="en-IN"/>
          </a:p>
        </p:txBody>
      </p:sp>
    </p:spTree>
    <p:extLst>
      <p:ext uri="{BB962C8B-B14F-4D97-AF65-F5344CB8AC3E}">
        <p14:creationId xmlns:p14="http://schemas.microsoft.com/office/powerpoint/2010/main" val="39719315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8310-06DF-422A-008A-211B9724D53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B027E7D-766D-E7B2-9A93-055EA6466D7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E85208C-E547-6089-FF9D-751712268855}"/>
              </a:ext>
            </a:extLst>
          </p:cNvPr>
          <p:cNvSpPr>
            <a:spLocks noGrp="1"/>
          </p:cNvSpPr>
          <p:nvPr>
            <p:ph type="dt" sz="half" idx="10"/>
          </p:nvPr>
        </p:nvSpPr>
        <p:spPr/>
        <p:txBody>
          <a:bodyPr/>
          <a:lstStyle/>
          <a:p>
            <a:fld id="{DEF277E6-ACE7-4843-92B0-F2D224D020B8}" type="datetime1">
              <a:rPr lang="en-IN" smtClean="0"/>
              <a:t>30-04-2026</a:t>
            </a:fld>
            <a:endParaRPr lang="en-IN"/>
          </a:p>
        </p:txBody>
      </p:sp>
      <p:sp>
        <p:nvSpPr>
          <p:cNvPr id="5" name="Footer Placeholder 4">
            <a:extLst>
              <a:ext uri="{FF2B5EF4-FFF2-40B4-BE49-F238E27FC236}">
                <a16:creationId xmlns:a16="http://schemas.microsoft.com/office/drawing/2014/main" id="{0724EA5C-DAC0-A02E-6951-E1EFDC66FA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2E204DF-A1B6-B41B-0519-C210D6D1F08A}"/>
              </a:ext>
            </a:extLst>
          </p:cNvPr>
          <p:cNvSpPr>
            <a:spLocks noGrp="1"/>
          </p:cNvSpPr>
          <p:nvPr>
            <p:ph type="sldNum" sz="quarter" idx="12"/>
          </p:nvPr>
        </p:nvSpPr>
        <p:spPr/>
        <p:txBody>
          <a:bodyPr/>
          <a:lstStyle/>
          <a:p>
            <a:fld id="{3DC7128E-BF39-415F-9079-B89CEAC75AA4}" type="slidenum">
              <a:rPr lang="en-IN" smtClean="0"/>
              <a:t>‹#›</a:t>
            </a:fld>
            <a:endParaRPr lang="en-IN"/>
          </a:p>
        </p:txBody>
      </p:sp>
    </p:spTree>
    <p:extLst>
      <p:ext uri="{BB962C8B-B14F-4D97-AF65-F5344CB8AC3E}">
        <p14:creationId xmlns:p14="http://schemas.microsoft.com/office/powerpoint/2010/main" val="6320820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C3DB3E-D457-4974-04A3-0CFF77816EA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2CD5599-E9A5-E5CC-91BA-93E065CEE13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5034DD1-7F3C-9562-4E45-EC4ECCB914BC}"/>
              </a:ext>
            </a:extLst>
          </p:cNvPr>
          <p:cNvSpPr>
            <a:spLocks noGrp="1"/>
          </p:cNvSpPr>
          <p:nvPr>
            <p:ph type="dt" sz="half" idx="10"/>
          </p:nvPr>
        </p:nvSpPr>
        <p:spPr/>
        <p:txBody>
          <a:bodyPr/>
          <a:lstStyle/>
          <a:p>
            <a:fld id="{A39ED394-EBDE-47F0-8DBD-A98028582AFE}" type="datetime1">
              <a:rPr lang="en-IN" smtClean="0"/>
              <a:t>30-04-2026</a:t>
            </a:fld>
            <a:endParaRPr lang="en-IN"/>
          </a:p>
        </p:txBody>
      </p:sp>
      <p:sp>
        <p:nvSpPr>
          <p:cNvPr id="5" name="Footer Placeholder 4">
            <a:extLst>
              <a:ext uri="{FF2B5EF4-FFF2-40B4-BE49-F238E27FC236}">
                <a16:creationId xmlns:a16="http://schemas.microsoft.com/office/drawing/2014/main" id="{D4598859-DC40-E977-9970-D4A67067447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85048A2-24E4-73C7-8935-CCF71FF73E04}"/>
              </a:ext>
            </a:extLst>
          </p:cNvPr>
          <p:cNvSpPr>
            <a:spLocks noGrp="1"/>
          </p:cNvSpPr>
          <p:nvPr>
            <p:ph type="sldNum" sz="quarter" idx="12"/>
          </p:nvPr>
        </p:nvSpPr>
        <p:spPr/>
        <p:txBody>
          <a:bodyPr/>
          <a:lstStyle/>
          <a:p>
            <a:fld id="{3DC7128E-BF39-415F-9079-B89CEAC75AA4}" type="slidenum">
              <a:rPr lang="en-IN" smtClean="0"/>
              <a:t>‹#›</a:t>
            </a:fld>
            <a:endParaRPr lang="en-IN"/>
          </a:p>
        </p:txBody>
      </p:sp>
    </p:spTree>
    <p:extLst>
      <p:ext uri="{BB962C8B-B14F-4D97-AF65-F5344CB8AC3E}">
        <p14:creationId xmlns:p14="http://schemas.microsoft.com/office/powerpoint/2010/main" val="2689699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467078B-30B7-39A1-4D86-402BAEFEFFB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96CCFA2-6D3C-C099-BDF4-6A4B85A8057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B669AB7-DF6F-EC79-D724-E6CB7DDCCC2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CC26A3-2649-46BD-99D2-49E9FBCC4DA3}" type="datetime1">
              <a:rPr lang="en-IN" smtClean="0"/>
              <a:t>30-04-2026</a:t>
            </a:fld>
            <a:endParaRPr lang="en-IN"/>
          </a:p>
        </p:txBody>
      </p:sp>
      <p:sp>
        <p:nvSpPr>
          <p:cNvPr id="5" name="Footer Placeholder 4">
            <a:extLst>
              <a:ext uri="{FF2B5EF4-FFF2-40B4-BE49-F238E27FC236}">
                <a16:creationId xmlns:a16="http://schemas.microsoft.com/office/drawing/2014/main" id="{36416054-D861-5AA8-AAE8-7613E63BA8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D2033F9-B7DE-4780-207B-355640E67FE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DC7128E-BF39-415F-9079-B89CEAC75AA4}" type="slidenum">
              <a:rPr lang="en-IN" smtClean="0"/>
              <a:t>‹#›</a:t>
            </a:fld>
            <a:endParaRPr lang="en-IN"/>
          </a:p>
        </p:txBody>
      </p:sp>
    </p:spTree>
    <p:extLst>
      <p:ext uri="{BB962C8B-B14F-4D97-AF65-F5344CB8AC3E}">
        <p14:creationId xmlns:p14="http://schemas.microsoft.com/office/powerpoint/2010/main" val="14971033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arduino.cc/"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7878C0D4-592E-2E43-E871-3AB80FD0464B}"/>
              </a:ext>
            </a:extLst>
          </p:cNvPr>
          <p:cNvGraphicFramePr/>
          <p:nvPr>
            <p:extLst>
              <p:ext uri="{D42A27DB-BD31-4B8C-83A1-F6EECF244321}">
                <p14:modId xmlns:p14="http://schemas.microsoft.com/office/powerpoint/2010/main" val="2477355586"/>
              </p:ext>
            </p:extLst>
          </p:nvPr>
        </p:nvGraphicFramePr>
        <p:xfrm>
          <a:off x="838200" y="365125"/>
          <a:ext cx="10515600" cy="13255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2" name="TextBox 11">
            <a:extLst>
              <a:ext uri="{FF2B5EF4-FFF2-40B4-BE49-F238E27FC236}">
                <a16:creationId xmlns:a16="http://schemas.microsoft.com/office/drawing/2014/main" id="{24971CFB-F484-4D00-7435-F1BBFB3C2CCF}"/>
              </a:ext>
            </a:extLst>
          </p:cNvPr>
          <p:cNvSpPr txBox="1"/>
          <p:nvPr/>
        </p:nvSpPr>
        <p:spPr>
          <a:xfrm>
            <a:off x="8416413" y="4739150"/>
            <a:ext cx="3281516" cy="1200329"/>
          </a:xfrm>
          <a:prstGeom prst="rect">
            <a:avLst/>
          </a:prstGeom>
          <a:noFill/>
        </p:spPr>
        <p:txBody>
          <a:bodyPr wrap="square">
            <a:spAutoFit/>
          </a:bodyPr>
          <a:lstStyle/>
          <a:p>
            <a:r>
              <a:rPr lang="en-IN" dirty="0">
                <a:solidFill>
                  <a:schemeClr val="accent6">
                    <a:lumMod val="50000"/>
                  </a:schemeClr>
                </a:solidFill>
              </a:rPr>
              <a:t>Minor Project Submitted to</a:t>
            </a:r>
          </a:p>
          <a:p>
            <a:r>
              <a:rPr lang="en-IN" dirty="0">
                <a:solidFill>
                  <a:schemeClr val="accent6">
                    <a:lumMod val="50000"/>
                  </a:schemeClr>
                </a:solidFill>
              </a:rPr>
              <a:t> </a:t>
            </a:r>
            <a:r>
              <a:rPr lang="en-IN" b="1" dirty="0" err="1">
                <a:solidFill>
                  <a:schemeClr val="accent6">
                    <a:lumMod val="50000"/>
                  </a:schemeClr>
                </a:solidFill>
              </a:rPr>
              <a:t>Dr.K.A.Sunitha</a:t>
            </a:r>
            <a:endParaRPr lang="en-IN" b="1" dirty="0">
              <a:solidFill>
                <a:schemeClr val="accent6">
                  <a:lumMod val="50000"/>
                </a:schemeClr>
              </a:solidFill>
            </a:endParaRPr>
          </a:p>
          <a:p>
            <a:r>
              <a:rPr lang="en-IN" dirty="0">
                <a:solidFill>
                  <a:schemeClr val="accent6">
                    <a:lumMod val="50000"/>
                  </a:schemeClr>
                </a:solidFill>
              </a:rPr>
              <a:t>Course Code/Title:</a:t>
            </a:r>
            <a:r>
              <a:rPr lang="en-IN" b="1" dirty="0">
                <a:solidFill>
                  <a:schemeClr val="accent6">
                    <a:lumMod val="50000"/>
                  </a:schemeClr>
                </a:solidFill>
              </a:rPr>
              <a:t>ECE308</a:t>
            </a:r>
          </a:p>
          <a:p>
            <a:r>
              <a:rPr lang="en-IN" b="1" dirty="0">
                <a:solidFill>
                  <a:schemeClr val="accent6">
                    <a:lumMod val="50000"/>
                  </a:schemeClr>
                </a:solidFill>
              </a:rPr>
              <a:t>Embedded system for design</a:t>
            </a:r>
          </a:p>
        </p:txBody>
      </p:sp>
      <p:graphicFrame>
        <p:nvGraphicFramePr>
          <p:cNvPr id="8" name="Content Placeholder 7">
            <a:extLst>
              <a:ext uri="{FF2B5EF4-FFF2-40B4-BE49-F238E27FC236}">
                <a16:creationId xmlns:a16="http://schemas.microsoft.com/office/drawing/2014/main" id="{0EB06C6A-AEA8-AC8E-D632-D8629AF72205}"/>
              </a:ext>
            </a:extLst>
          </p:cNvPr>
          <p:cNvGraphicFramePr>
            <a:graphicFrameLocks noGrp="1"/>
          </p:cNvGraphicFramePr>
          <p:nvPr>
            <p:ph idx="1"/>
            <p:extLst>
              <p:ext uri="{D42A27DB-BD31-4B8C-83A1-F6EECF244321}">
                <p14:modId xmlns:p14="http://schemas.microsoft.com/office/powerpoint/2010/main" val="1179016426"/>
              </p:ext>
            </p:extLst>
          </p:nvPr>
        </p:nvGraphicFramePr>
        <p:xfrm>
          <a:off x="838200" y="1825625"/>
          <a:ext cx="5980044" cy="3988768"/>
        </p:xfrm>
        <a:graphic>
          <a:graphicData uri="http://schemas.openxmlformats.org/drawingml/2006/table">
            <a:tbl>
              <a:tblPr firstRow="1" bandRow="1">
                <a:tableStyleId>{93296810-A885-4BE3-A3E7-6D5BEEA58F35}</a:tableStyleId>
              </a:tblPr>
              <a:tblGrid>
                <a:gridCol w="2990022">
                  <a:extLst>
                    <a:ext uri="{9D8B030D-6E8A-4147-A177-3AD203B41FA5}">
                      <a16:colId xmlns:a16="http://schemas.microsoft.com/office/drawing/2014/main" val="534223572"/>
                    </a:ext>
                  </a:extLst>
                </a:gridCol>
                <a:gridCol w="2990022">
                  <a:extLst>
                    <a:ext uri="{9D8B030D-6E8A-4147-A177-3AD203B41FA5}">
                      <a16:colId xmlns:a16="http://schemas.microsoft.com/office/drawing/2014/main" val="3718951837"/>
                    </a:ext>
                  </a:extLst>
                </a:gridCol>
              </a:tblGrid>
              <a:tr h="997192">
                <a:tc>
                  <a:txBody>
                    <a:bodyPr/>
                    <a:lstStyle/>
                    <a:p>
                      <a:pPr algn="ctr"/>
                      <a:endParaRPr lang="en-US" dirty="0"/>
                    </a:p>
                    <a:p>
                      <a:pPr algn="ctr"/>
                      <a:r>
                        <a:rPr lang="en-IN" dirty="0"/>
                        <a:t>Name of the student</a:t>
                      </a:r>
                    </a:p>
                  </a:txBody>
                  <a:tcPr/>
                </a:tc>
                <a:tc>
                  <a:txBody>
                    <a:bodyPr/>
                    <a:lstStyle/>
                    <a:p>
                      <a:pPr algn="ctr"/>
                      <a:endParaRPr lang="en-US" dirty="0"/>
                    </a:p>
                    <a:p>
                      <a:pPr algn="ctr"/>
                      <a:r>
                        <a:rPr lang="en-IN" dirty="0"/>
                        <a:t>Roll Number</a:t>
                      </a:r>
                    </a:p>
                  </a:txBody>
                  <a:tcPr/>
                </a:tc>
                <a:extLst>
                  <a:ext uri="{0D108BD9-81ED-4DB2-BD59-A6C34878D82A}">
                    <a16:rowId xmlns:a16="http://schemas.microsoft.com/office/drawing/2014/main" val="2602576659"/>
                  </a:ext>
                </a:extLst>
              </a:tr>
              <a:tr h="997192">
                <a:tc>
                  <a:txBody>
                    <a:bodyPr/>
                    <a:lstStyle/>
                    <a:p>
                      <a:pPr algn="ctr"/>
                      <a:endParaRPr lang="en-US" dirty="0">
                        <a:solidFill>
                          <a:schemeClr val="accent6">
                            <a:lumMod val="50000"/>
                          </a:schemeClr>
                        </a:solidFill>
                      </a:endParaRPr>
                    </a:p>
                    <a:p>
                      <a:pPr algn="ctr"/>
                      <a:r>
                        <a:rPr lang="en-IN" dirty="0">
                          <a:solidFill>
                            <a:schemeClr val="accent6">
                              <a:lumMod val="50000"/>
                            </a:schemeClr>
                          </a:solidFill>
                        </a:rPr>
                        <a:t>D. Nithya Santhoshi</a:t>
                      </a:r>
                    </a:p>
                  </a:txBody>
                  <a:tcPr/>
                </a:tc>
                <a:tc>
                  <a:txBody>
                    <a:bodyPr/>
                    <a:lstStyle/>
                    <a:p>
                      <a:pPr algn="ctr"/>
                      <a:endParaRPr lang="en-US" dirty="0">
                        <a:solidFill>
                          <a:schemeClr val="accent6">
                            <a:lumMod val="50000"/>
                          </a:schemeClr>
                        </a:solidFill>
                      </a:endParaRPr>
                    </a:p>
                    <a:p>
                      <a:pPr algn="ctr"/>
                      <a:r>
                        <a:rPr lang="en-IN" dirty="0">
                          <a:solidFill>
                            <a:schemeClr val="accent6">
                              <a:lumMod val="50000"/>
                            </a:schemeClr>
                          </a:solidFill>
                        </a:rPr>
                        <a:t>AP23110020058</a:t>
                      </a:r>
                    </a:p>
                  </a:txBody>
                  <a:tcPr/>
                </a:tc>
                <a:extLst>
                  <a:ext uri="{0D108BD9-81ED-4DB2-BD59-A6C34878D82A}">
                    <a16:rowId xmlns:a16="http://schemas.microsoft.com/office/drawing/2014/main" val="735474064"/>
                  </a:ext>
                </a:extLst>
              </a:tr>
              <a:tr h="997192">
                <a:tc>
                  <a:txBody>
                    <a:bodyPr/>
                    <a:lstStyle/>
                    <a:p>
                      <a:pPr algn="ctr"/>
                      <a:endParaRPr lang="en-US" dirty="0">
                        <a:solidFill>
                          <a:schemeClr val="accent6">
                            <a:lumMod val="50000"/>
                          </a:schemeClr>
                        </a:solidFill>
                      </a:endParaRPr>
                    </a:p>
                    <a:p>
                      <a:pPr algn="ctr"/>
                      <a:r>
                        <a:rPr lang="en-IN" dirty="0" err="1">
                          <a:solidFill>
                            <a:schemeClr val="accent6">
                              <a:lumMod val="50000"/>
                            </a:schemeClr>
                          </a:solidFill>
                        </a:rPr>
                        <a:t>K.Deeksha</a:t>
                      </a:r>
                      <a:endParaRPr lang="en-IN" dirty="0">
                        <a:solidFill>
                          <a:schemeClr val="accent6">
                            <a:lumMod val="50000"/>
                          </a:schemeClr>
                        </a:solidFill>
                      </a:endParaRPr>
                    </a:p>
                  </a:txBody>
                  <a:tcPr/>
                </a:tc>
                <a:tc>
                  <a:txBody>
                    <a:bodyPr/>
                    <a:lstStyle/>
                    <a:p>
                      <a:pPr algn="ctr"/>
                      <a:endParaRPr lang="en-US" dirty="0">
                        <a:solidFill>
                          <a:schemeClr val="accent6">
                            <a:lumMod val="50000"/>
                          </a:schemeClr>
                        </a:solidFill>
                      </a:endParaRPr>
                    </a:p>
                    <a:p>
                      <a:pPr algn="ctr"/>
                      <a:r>
                        <a:rPr lang="en-IN" dirty="0">
                          <a:solidFill>
                            <a:schemeClr val="accent6">
                              <a:lumMod val="50000"/>
                            </a:schemeClr>
                          </a:solidFill>
                        </a:rPr>
                        <a:t>AP23110020064</a:t>
                      </a:r>
                    </a:p>
                  </a:txBody>
                  <a:tcPr/>
                </a:tc>
                <a:extLst>
                  <a:ext uri="{0D108BD9-81ED-4DB2-BD59-A6C34878D82A}">
                    <a16:rowId xmlns:a16="http://schemas.microsoft.com/office/drawing/2014/main" val="502980539"/>
                  </a:ext>
                </a:extLst>
              </a:tr>
              <a:tr h="997192">
                <a:tc>
                  <a:txBody>
                    <a:bodyPr/>
                    <a:lstStyle/>
                    <a:p>
                      <a:pPr algn="ctr"/>
                      <a:endParaRPr lang="en-US" dirty="0">
                        <a:solidFill>
                          <a:schemeClr val="accent6">
                            <a:lumMod val="50000"/>
                          </a:schemeClr>
                        </a:solidFill>
                      </a:endParaRPr>
                    </a:p>
                    <a:p>
                      <a:pPr algn="ctr"/>
                      <a:r>
                        <a:rPr lang="en-IN" dirty="0">
                          <a:solidFill>
                            <a:schemeClr val="accent6">
                              <a:lumMod val="50000"/>
                            </a:schemeClr>
                          </a:solidFill>
                        </a:rPr>
                        <a:t>T. Kavya</a:t>
                      </a:r>
                    </a:p>
                  </a:txBody>
                  <a:tcPr/>
                </a:tc>
                <a:tc>
                  <a:txBody>
                    <a:bodyPr/>
                    <a:lstStyle/>
                    <a:p>
                      <a:pPr algn="ctr"/>
                      <a:endParaRPr lang="en-US" dirty="0">
                        <a:solidFill>
                          <a:schemeClr val="accent6">
                            <a:lumMod val="50000"/>
                          </a:schemeClr>
                        </a:solidFill>
                      </a:endParaRPr>
                    </a:p>
                    <a:p>
                      <a:pPr algn="ctr"/>
                      <a:r>
                        <a:rPr lang="en-IN" dirty="0">
                          <a:solidFill>
                            <a:schemeClr val="accent6">
                              <a:lumMod val="50000"/>
                            </a:schemeClr>
                          </a:solidFill>
                        </a:rPr>
                        <a:t>AP23110020056</a:t>
                      </a:r>
                    </a:p>
                  </a:txBody>
                  <a:tcPr/>
                </a:tc>
                <a:extLst>
                  <a:ext uri="{0D108BD9-81ED-4DB2-BD59-A6C34878D82A}">
                    <a16:rowId xmlns:a16="http://schemas.microsoft.com/office/drawing/2014/main" val="4278905154"/>
                  </a:ext>
                </a:extLst>
              </a:tr>
            </a:tbl>
          </a:graphicData>
        </a:graphic>
      </p:graphicFrame>
    </p:spTree>
    <p:extLst>
      <p:ext uri="{BB962C8B-B14F-4D97-AF65-F5344CB8AC3E}">
        <p14:creationId xmlns:p14="http://schemas.microsoft.com/office/powerpoint/2010/main" val="4129027241"/>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9F96DB-CA59-8AEE-A5B5-E33BC2285219}"/>
              </a:ext>
            </a:extLst>
          </p:cNvPr>
          <p:cNvSpPr>
            <a:spLocks noGrp="1"/>
          </p:cNvSpPr>
          <p:nvPr>
            <p:ph idx="1"/>
          </p:nvPr>
        </p:nvSpPr>
        <p:spPr>
          <a:xfrm>
            <a:off x="838200" y="2296917"/>
            <a:ext cx="10515600" cy="3591949"/>
          </a:xfrm>
        </p:spPr>
        <p:txBody>
          <a:bodyPr/>
          <a:lstStyle/>
          <a:p>
            <a:pPr marL="0" indent="0">
              <a:buNone/>
            </a:pPr>
            <a:endParaRPr lang="en-US" dirty="0"/>
          </a:p>
          <a:p>
            <a:pPr marL="0" indent="0" algn="ctr">
              <a:buNone/>
            </a:pPr>
            <a:r>
              <a:rPr lang="en-US" dirty="0">
                <a:solidFill>
                  <a:schemeClr val="accent6">
                    <a:lumMod val="50000"/>
                  </a:schemeClr>
                </a:solidFill>
              </a:rPr>
              <a:t>This project presents a smart parking system using Arduino and an ultrasonic sensor. The system detects a vehicle based on distance measurement and automatically opens a gate using a servo motor. After the vehicle enters, the gate closes automatically. This reduces manual effort and improves parking efficiency. The system is simple, low-cost, and suitable for small-scale applications.</a:t>
            </a:r>
            <a:endParaRPr lang="en-IN" dirty="0">
              <a:solidFill>
                <a:schemeClr val="accent6">
                  <a:lumMod val="50000"/>
                </a:schemeClr>
              </a:solidFill>
            </a:endParaRPr>
          </a:p>
        </p:txBody>
      </p:sp>
      <p:grpSp>
        <p:nvGrpSpPr>
          <p:cNvPr id="5" name="Group 4">
            <a:extLst>
              <a:ext uri="{FF2B5EF4-FFF2-40B4-BE49-F238E27FC236}">
                <a16:creationId xmlns:a16="http://schemas.microsoft.com/office/drawing/2014/main" id="{02E51545-B4C9-4D81-46A7-7279DEE399AD}"/>
              </a:ext>
            </a:extLst>
          </p:cNvPr>
          <p:cNvGrpSpPr/>
          <p:nvPr/>
        </p:nvGrpSpPr>
        <p:grpSpPr>
          <a:xfrm>
            <a:off x="838200" y="298762"/>
            <a:ext cx="10515600" cy="1324682"/>
            <a:chOff x="0" y="880"/>
            <a:chExt cx="10515600" cy="1324682"/>
          </a:xfrm>
        </p:grpSpPr>
        <p:sp>
          <p:nvSpPr>
            <p:cNvPr id="6" name="Rectangle: Rounded Corners 5">
              <a:extLst>
                <a:ext uri="{FF2B5EF4-FFF2-40B4-BE49-F238E27FC236}">
                  <a16:creationId xmlns:a16="http://schemas.microsoft.com/office/drawing/2014/main" id="{5BEED5F4-75BD-5533-F414-AA74EAD16327}"/>
                </a:ext>
              </a:extLst>
            </p:cNvPr>
            <p:cNvSpPr/>
            <p:nvPr/>
          </p:nvSpPr>
          <p:spPr>
            <a:xfrm>
              <a:off x="0" y="880"/>
              <a:ext cx="10515600" cy="1324682"/>
            </a:xfrm>
            <a:prstGeom prst="roundRect">
              <a:avLst/>
            </a:prstGeom>
          </p:spPr>
          <p:style>
            <a:lnRef idx="2">
              <a:schemeClr val="lt1">
                <a:hueOff val="0"/>
                <a:satOff val="0"/>
                <a:lumOff val="0"/>
                <a:alphaOff val="0"/>
              </a:schemeClr>
            </a:lnRef>
            <a:fillRef idx="1">
              <a:schemeClr val="accent6">
                <a:shade val="80000"/>
                <a:hueOff val="0"/>
                <a:satOff val="0"/>
                <a:lumOff val="0"/>
                <a:alphaOff val="0"/>
              </a:schemeClr>
            </a:fillRef>
            <a:effectRef idx="0">
              <a:schemeClr val="accent6">
                <a:shade val="80000"/>
                <a:hueOff val="0"/>
                <a:satOff val="0"/>
                <a:lumOff val="0"/>
                <a:alphaOff val="0"/>
              </a:schemeClr>
            </a:effectRef>
            <a:fontRef idx="minor">
              <a:schemeClr val="lt1"/>
            </a:fontRef>
          </p:style>
          <p:txBody>
            <a:bodyPr/>
            <a:lstStyle/>
            <a:p>
              <a:endParaRPr lang="en-IN"/>
            </a:p>
          </p:txBody>
        </p:sp>
        <p:sp>
          <p:nvSpPr>
            <p:cNvPr id="7" name="Rectangle: Rounded Corners 4">
              <a:extLst>
                <a:ext uri="{FF2B5EF4-FFF2-40B4-BE49-F238E27FC236}">
                  <a16:creationId xmlns:a16="http://schemas.microsoft.com/office/drawing/2014/main" id="{E812BB67-BBF6-6BA0-DA11-34B737D9FCAC}"/>
                </a:ext>
              </a:extLst>
            </p:cNvPr>
            <p:cNvSpPr txBox="1"/>
            <p:nvPr/>
          </p:nvSpPr>
          <p:spPr>
            <a:xfrm>
              <a:off x="64666" y="65546"/>
              <a:ext cx="10386268" cy="119535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67640" tIns="167640" rIns="167640" bIns="167640" numCol="1" spcCol="1270" anchor="ctr" anchorCtr="0">
              <a:noAutofit/>
            </a:bodyPr>
            <a:lstStyle/>
            <a:p>
              <a:pPr marL="0" lvl="0" indent="0" algn="ctr" defTabSz="1955800">
                <a:lnSpc>
                  <a:spcPct val="90000"/>
                </a:lnSpc>
                <a:spcBef>
                  <a:spcPct val="0"/>
                </a:spcBef>
                <a:spcAft>
                  <a:spcPct val="35000"/>
                </a:spcAft>
                <a:buNone/>
              </a:pPr>
              <a:r>
                <a:rPr lang="en-US" sz="4400" b="1" dirty="0"/>
                <a:t>Abstract</a:t>
              </a:r>
              <a:endParaRPr lang="en-IN" sz="1800" kern="1200" dirty="0"/>
            </a:p>
          </p:txBody>
        </p:sp>
      </p:grpSp>
    </p:spTree>
    <p:extLst>
      <p:ext uri="{BB962C8B-B14F-4D97-AF65-F5344CB8AC3E}">
        <p14:creationId xmlns:p14="http://schemas.microsoft.com/office/powerpoint/2010/main" val="3791481305"/>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44AA6E93-6E3A-1204-F1C8-CC345126D249}"/>
              </a:ext>
            </a:extLst>
          </p:cNvPr>
          <p:cNvGraphicFramePr>
            <a:graphicFrameLocks noGrp="1"/>
          </p:cNvGraphicFramePr>
          <p:nvPr>
            <p:ph idx="1"/>
            <p:extLst>
              <p:ext uri="{D42A27DB-BD31-4B8C-83A1-F6EECF244321}">
                <p14:modId xmlns:p14="http://schemas.microsoft.com/office/powerpoint/2010/main" val="2648555569"/>
              </p:ext>
            </p:extLst>
          </p:nvPr>
        </p:nvGraphicFramePr>
        <p:xfrm>
          <a:off x="838200" y="2169754"/>
          <a:ext cx="10515600" cy="3749264"/>
        </p:xfrm>
        <a:graphic>
          <a:graphicData uri="http://schemas.openxmlformats.org/drawingml/2006/table">
            <a:tbl>
              <a:tblPr firstRow="1" bandRow="1">
                <a:tableStyleId>{93296810-A885-4BE3-A3E7-6D5BEEA58F35}</a:tableStyleId>
              </a:tblPr>
              <a:tblGrid>
                <a:gridCol w="2103120">
                  <a:extLst>
                    <a:ext uri="{9D8B030D-6E8A-4147-A177-3AD203B41FA5}">
                      <a16:colId xmlns:a16="http://schemas.microsoft.com/office/drawing/2014/main" val="3832857076"/>
                    </a:ext>
                  </a:extLst>
                </a:gridCol>
                <a:gridCol w="2103120">
                  <a:extLst>
                    <a:ext uri="{9D8B030D-6E8A-4147-A177-3AD203B41FA5}">
                      <a16:colId xmlns:a16="http://schemas.microsoft.com/office/drawing/2014/main" val="3682799269"/>
                    </a:ext>
                  </a:extLst>
                </a:gridCol>
                <a:gridCol w="2103120">
                  <a:extLst>
                    <a:ext uri="{9D8B030D-6E8A-4147-A177-3AD203B41FA5}">
                      <a16:colId xmlns:a16="http://schemas.microsoft.com/office/drawing/2014/main" val="1879726870"/>
                    </a:ext>
                  </a:extLst>
                </a:gridCol>
                <a:gridCol w="2103120">
                  <a:extLst>
                    <a:ext uri="{9D8B030D-6E8A-4147-A177-3AD203B41FA5}">
                      <a16:colId xmlns:a16="http://schemas.microsoft.com/office/drawing/2014/main" val="1320531419"/>
                    </a:ext>
                  </a:extLst>
                </a:gridCol>
                <a:gridCol w="2103120">
                  <a:extLst>
                    <a:ext uri="{9D8B030D-6E8A-4147-A177-3AD203B41FA5}">
                      <a16:colId xmlns:a16="http://schemas.microsoft.com/office/drawing/2014/main" val="3688284051"/>
                    </a:ext>
                  </a:extLst>
                </a:gridCol>
              </a:tblGrid>
              <a:tr h="937316">
                <a:tc>
                  <a:txBody>
                    <a:bodyPr/>
                    <a:lstStyle/>
                    <a:p>
                      <a:pPr algn="ctr"/>
                      <a:endParaRPr lang="en-US" dirty="0"/>
                    </a:p>
                    <a:p>
                      <a:pPr algn="ctr"/>
                      <a:r>
                        <a:rPr lang="en-US" dirty="0"/>
                        <a:t>Novelty</a:t>
                      </a:r>
                      <a:endParaRPr lang="en-IN" dirty="0"/>
                    </a:p>
                  </a:txBody>
                  <a:tcPr/>
                </a:tc>
                <a:tc>
                  <a:txBody>
                    <a:bodyPr/>
                    <a:lstStyle/>
                    <a:p>
                      <a:endParaRPr lang="en-US" dirty="0"/>
                    </a:p>
                    <a:p>
                      <a:pPr algn="ctr"/>
                      <a:r>
                        <a:rPr lang="en-IN" dirty="0"/>
                        <a:t>Reference</a:t>
                      </a:r>
                    </a:p>
                  </a:txBody>
                  <a:tcPr/>
                </a:tc>
                <a:tc>
                  <a:txBody>
                    <a:bodyPr/>
                    <a:lstStyle/>
                    <a:p>
                      <a:endParaRPr lang="en-US" dirty="0"/>
                    </a:p>
                    <a:p>
                      <a:pPr algn="ctr"/>
                      <a:r>
                        <a:rPr lang="en-IN" dirty="0"/>
                        <a:t>Title</a:t>
                      </a:r>
                    </a:p>
                  </a:txBody>
                  <a:tcPr/>
                </a:tc>
                <a:tc>
                  <a:txBody>
                    <a:bodyPr/>
                    <a:lstStyle/>
                    <a:p>
                      <a:endParaRPr lang="en-US" dirty="0"/>
                    </a:p>
                    <a:p>
                      <a:pPr algn="ctr"/>
                      <a:r>
                        <a:rPr lang="en-IN" dirty="0"/>
                        <a:t>Advantages</a:t>
                      </a:r>
                    </a:p>
                  </a:txBody>
                  <a:tcPr/>
                </a:tc>
                <a:tc>
                  <a:txBody>
                    <a:bodyPr/>
                    <a:lstStyle/>
                    <a:p>
                      <a:pPr algn="ctr"/>
                      <a:endParaRPr lang="en-US" dirty="0"/>
                    </a:p>
                    <a:p>
                      <a:pPr algn="ctr"/>
                      <a:r>
                        <a:rPr lang="en-IN" dirty="0"/>
                        <a:t>Disadvantages</a:t>
                      </a:r>
                    </a:p>
                  </a:txBody>
                  <a:tcPr/>
                </a:tc>
                <a:extLst>
                  <a:ext uri="{0D108BD9-81ED-4DB2-BD59-A6C34878D82A}">
                    <a16:rowId xmlns:a16="http://schemas.microsoft.com/office/drawing/2014/main" val="1162973454"/>
                  </a:ext>
                </a:extLst>
              </a:tr>
              <a:tr h="937316">
                <a:tc>
                  <a:txBody>
                    <a:bodyPr/>
                    <a:lstStyle/>
                    <a:p>
                      <a:endParaRPr lang="en-US" dirty="0"/>
                    </a:p>
                    <a:p>
                      <a:pPr algn="ctr"/>
                      <a:r>
                        <a:rPr lang="en-IN" dirty="0"/>
                        <a:t>[1]</a:t>
                      </a:r>
                    </a:p>
                  </a:txBody>
                  <a:tcPr/>
                </a:tc>
                <a:tc>
                  <a:txBody>
                    <a:bodyPr/>
                    <a:lstStyle/>
                    <a:p>
                      <a:endParaRPr lang="en-IN" dirty="0"/>
                    </a:p>
                    <a:p>
                      <a:r>
                        <a:rPr lang="en-IN" dirty="0"/>
                        <a:t>Basic Smart Parking</a:t>
                      </a:r>
                    </a:p>
                  </a:txBody>
                  <a:tcPr/>
                </a:tc>
                <a:tc>
                  <a:txBody>
                    <a:bodyPr/>
                    <a:lstStyle/>
                    <a:p>
                      <a:pPr algn="ctr"/>
                      <a:r>
                        <a:rPr lang="en-IN" dirty="0"/>
                        <a:t>Sensor-based parking system</a:t>
                      </a:r>
                    </a:p>
                  </a:txBody>
                  <a:tcPr/>
                </a:tc>
                <a:tc>
                  <a:txBody>
                    <a:bodyPr/>
                    <a:lstStyle/>
                    <a:p>
                      <a:endParaRPr lang="en-IN" dirty="0"/>
                    </a:p>
                    <a:p>
                      <a:pPr algn="ctr"/>
                      <a:r>
                        <a:rPr lang="en-IN" dirty="0"/>
                        <a:t>Easy to implement</a:t>
                      </a:r>
                    </a:p>
                  </a:txBody>
                  <a:tcPr/>
                </a:tc>
                <a:tc>
                  <a:txBody>
                    <a:bodyPr/>
                    <a:lstStyle/>
                    <a:p>
                      <a:pPr algn="ctr"/>
                      <a:endParaRPr lang="en-US" dirty="0"/>
                    </a:p>
                    <a:p>
                      <a:pPr algn="ctr"/>
                      <a:r>
                        <a:rPr lang="en-IN" dirty="0"/>
                        <a:t>Limited features</a:t>
                      </a:r>
                    </a:p>
                  </a:txBody>
                  <a:tcPr/>
                </a:tc>
                <a:extLst>
                  <a:ext uri="{0D108BD9-81ED-4DB2-BD59-A6C34878D82A}">
                    <a16:rowId xmlns:a16="http://schemas.microsoft.com/office/drawing/2014/main" val="2671118157"/>
                  </a:ext>
                </a:extLst>
              </a:tr>
              <a:tr h="937316">
                <a:tc>
                  <a:txBody>
                    <a:bodyPr/>
                    <a:lstStyle/>
                    <a:p>
                      <a:endParaRPr lang="en-US" dirty="0"/>
                    </a:p>
                    <a:p>
                      <a:pPr algn="ctr"/>
                      <a:r>
                        <a:rPr lang="en-IN" dirty="0"/>
                        <a:t>[2]</a:t>
                      </a:r>
                    </a:p>
                    <a:p>
                      <a:pPr algn="ctr"/>
                      <a:endParaRPr lang="en-IN" dirty="0"/>
                    </a:p>
                  </a:txBody>
                  <a:tcPr/>
                </a:tc>
                <a:tc>
                  <a:txBody>
                    <a:bodyPr/>
                    <a:lstStyle/>
                    <a:p>
                      <a:endParaRPr lang="en-US" dirty="0"/>
                    </a:p>
                    <a:p>
                      <a:r>
                        <a:rPr lang="en-IN" dirty="0"/>
                        <a:t>Ultrasonic System</a:t>
                      </a:r>
                    </a:p>
                  </a:txBody>
                  <a:tcPr/>
                </a:tc>
                <a:tc>
                  <a:txBody>
                    <a:bodyPr/>
                    <a:lstStyle/>
                    <a:p>
                      <a:pPr algn="ctr"/>
                      <a:r>
                        <a:rPr lang="en-IN" dirty="0"/>
                        <a:t>Distance-based detection</a:t>
                      </a:r>
                    </a:p>
                  </a:txBody>
                  <a:tcPr/>
                </a:tc>
                <a:tc>
                  <a:txBody>
                    <a:bodyPr/>
                    <a:lstStyle/>
                    <a:p>
                      <a:endParaRPr lang="en-IN" dirty="0"/>
                    </a:p>
                    <a:p>
                      <a:pPr algn="ctr"/>
                      <a:r>
                        <a:rPr lang="en-IN" dirty="0"/>
                        <a:t>Accurate sensing</a:t>
                      </a:r>
                    </a:p>
                  </a:txBody>
                  <a:tcPr/>
                </a:tc>
                <a:tc>
                  <a:txBody>
                    <a:bodyPr/>
                    <a:lstStyle/>
                    <a:p>
                      <a:endParaRPr lang="en-US" dirty="0"/>
                    </a:p>
                    <a:p>
                      <a:pPr algn="ctr"/>
                      <a:r>
                        <a:rPr lang="en-IN" dirty="0"/>
                        <a:t>Short range</a:t>
                      </a:r>
                    </a:p>
                  </a:txBody>
                  <a:tcPr/>
                </a:tc>
                <a:extLst>
                  <a:ext uri="{0D108BD9-81ED-4DB2-BD59-A6C34878D82A}">
                    <a16:rowId xmlns:a16="http://schemas.microsoft.com/office/drawing/2014/main" val="1018999154"/>
                  </a:ext>
                </a:extLst>
              </a:tr>
              <a:tr h="937316">
                <a:tc>
                  <a:txBody>
                    <a:bodyPr/>
                    <a:lstStyle/>
                    <a:p>
                      <a:pPr algn="ctr"/>
                      <a:endParaRPr lang="en-US" dirty="0"/>
                    </a:p>
                    <a:p>
                      <a:pPr algn="ctr"/>
                      <a:r>
                        <a:rPr lang="en-IN" dirty="0"/>
                        <a:t>[3]</a:t>
                      </a:r>
                    </a:p>
                  </a:txBody>
                  <a:tcPr/>
                </a:tc>
                <a:tc>
                  <a:txBody>
                    <a:bodyPr/>
                    <a:lstStyle/>
                    <a:p>
                      <a:endParaRPr lang="en-US" dirty="0"/>
                    </a:p>
                    <a:p>
                      <a:r>
                        <a:rPr lang="en-IN" dirty="0"/>
                        <a:t>Arduino-based</a:t>
                      </a:r>
                    </a:p>
                  </a:txBody>
                  <a:tcPr/>
                </a:tc>
                <a:tc>
                  <a:txBody>
                    <a:bodyPr/>
                    <a:lstStyle/>
                    <a:p>
                      <a:pPr algn="ctr"/>
                      <a:r>
                        <a:rPr lang="en-IN" dirty="0"/>
                        <a:t>Embedded automation</a:t>
                      </a:r>
                    </a:p>
                  </a:txBody>
                  <a:tcPr/>
                </a:tc>
                <a:tc>
                  <a:txBody>
                    <a:bodyPr/>
                    <a:lstStyle/>
                    <a:p>
                      <a:endParaRPr lang="en-US" dirty="0"/>
                    </a:p>
                    <a:p>
                      <a:pPr algn="ctr"/>
                      <a:r>
                        <a:rPr lang="en-IN" dirty="0"/>
                        <a:t>Low cost</a:t>
                      </a:r>
                    </a:p>
                  </a:txBody>
                  <a:tcPr/>
                </a:tc>
                <a:tc>
                  <a:txBody>
                    <a:bodyPr/>
                    <a:lstStyle/>
                    <a:p>
                      <a:pPr algn="ctr"/>
                      <a:endParaRPr lang="en-US" dirty="0"/>
                    </a:p>
                    <a:p>
                      <a:pPr algn="ctr"/>
                      <a:r>
                        <a:rPr lang="en-IN" dirty="0"/>
                        <a:t>Limited scalability</a:t>
                      </a:r>
                    </a:p>
                  </a:txBody>
                  <a:tcPr/>
                </a:tc>
                <a:extLst>
                  <a:ext uri="{0D108BD9-81ED-4DB2-BD59-A6C34878D82A}">
                    <a16:rowId xmlns:a16="http://schemas.microsoft.com/office/drawing/2014/main" val="3617176522"/>
                  </a:ext>
                </a:extLst>
              </a:tr>
            </a:tbl>
          </a:graphicData>
        </a:graphic>
      </p:graphicFrame>
      <p:grpSp>
        <p:nvGrpSpPr>
          <p:cNvPr id="4" name="Group 3">
            <a:extLst>
              <a:ext uri="{FF2B5EF4-FFF2-40B4-BE49-F238E27FC236}">
                <a16:creationId xmlns:a16="http://schemas.microsoft.com/office/drawing/2014/main" id="{CAFAA42A-CD4C-19B3-C8B0-5ABD87A27910}"/>
              </a:ext>
            </a:extLst>
          </p:cNvPr>
          <p:cNvGrpSpPr/>
          <p:nvPr/>
        </p:nvGrpSpPr>
        <p:grpSpPr>
          <a:xfrm>
            <a:off x="838200" y="298762"/>
            <a:ext cx="10515600" cy="1324682"/>
            <a:chOff x="0" y="880"/>
            <a:chExt cx="10515600" cy="1324682"/>
          </a:xfrm>
        </p:grpSpPr>
        <p:sp>
          <p:nvSpPr>
            <p:cNvPr id="5" name="Rectangle: Rounded Corners 4">
              <a:extLst>
                <a:ext uri="{FF2B5EF4-FFF2-40B4-BE49-F238E27FC236}">
                  <a16:creationId xmlns:a16="http://schemas.microsoft.com/office/drawing/2014/main" id="{A4861599-EF3F-2F70-7503-171144D57053}"/>
                </a:ext>
              </a:extLst>
            </p:cNvPr>
            <p:cNvSpPr/>
            <p:nvPr/>
          </p:nvSpPr>
          <p:spPr>
            <a:xfrm>
              <a:off x="0" y="880"/>
              <a:ext cx="10515600" cy="1324682"/>
            </a:xfrm>
            <a:prstGeom prst="roundRect">
              <a:avLst/>
            </a:prstGeom>
          </p:spPr>
          <p:style>
            <a:lnRef idx="2">
              <a:schemeClr val="lt1">
                <a:hueOff val="0"/>
                <a:satOff val="0"/>
                <a:lumOff val="0"/>
                <a:alphaOff val="0"/>
              </a:schemeClr>
            </a:lnRef>
            <a:fillRef idx="1">
              <a:schemeClr val="accent6">
                <a:shade val="80000"/>
                <a:hueOff val="0"/>
                <a:satOff val="0"/>
                <a:lumOff val="0"/>
                <a:alphaOff val="0"/>
              </a:schemeClr>
            </a:fillRef>
            <a:effectRef idx="0">
              <a:schemeClr val="accent6">
                <a:shade val="80000"/>
                <a:hueOff val="0"/>
                <a:satOff val="0"/>
                <a:lumOff val="0"/>
                <a:alphaOff val="0"/>
              </a:schemeClr>
            </a:effectRef>
            <a:fontRef idx="minor">
              <a:schemeClr val="lt1"/>
            </a:fontRef>
          </p:style>
          <p:txBody>
            <a:bodyPr/>
            <a:lstStyle/>
            <a:p>
              <a:endParaRPr lang="en-IN"/>
            </a:p>
          </p:txBody>
        </p:sp>
        <p:sp>
          <p:nvSpPr>
            <p:cNvPr id="6" name="Rectangle: Rounded Corners 4">
              <a:extLst>
                <a:ext uri="{FF2B5EF4-FFF2-40B4-BE49-F238E27FC236}">
                  <a16:creationId xmlns:a16="http://schemas.microsoft.com/office/drawing/2014/main" id="{A9CD2A0D-0E5F-4CA4-E0F9-FDE9A19DA85C}"/>
                </a:ext>
              </a:extLst>
            </p:cNvPr>
            <p:cNvSpPr txBox="1"/>
            <p:nvPr/>
          </p:nvSpPr>
          <p:spPr>
            <a:xfrm>
              <a:off x="64666" y="65546"/>
              <a:ext cx="10386268" cy="119535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67640" tIns="167640" rIns="167640" bIns="167640" numCol="1" spcCol="1270" anchor="ctr" anchorCtr="0">
              <a:noAutofit/>
            </a:bodyPr>
            <a:lstStyle/>
            <a:p>
              <a:pPr marL="0" lvl="0" indent="0" algn="ctr" defTabSz="1955800">
                <a:lnSpc>
                  <a:spcPct val="90000"/>
                </a:lnSpc>
                <a:spcBef>
                  <a:spcPct val="0"/>
                </a:spcBef>
                <a:spcAft>
                  <a:spcPct val="35000"/>
                </a:spcAft>
                <a:buNone/>
              </a:pPr>
              <a:r>
                <a:rPr lang="en-US" sz="4400" b="1" kern="1200" dirty="0"/>
                <a:t>Literature </a:t>
              </a:r>
              <a:r>
                <a:rPr lang="en-US" sz="4400" b="1" dirty="0"/>
                <a:t>Survey</a:t>
              </a:r>
              <a:endParaRPr lang="en-IN" sz="1800" kern="1200" dirty="0"/>
            </a:p>
          </p:txBody>
        </p:sp>
      </p:grpSp>
    </p:spTree>
    <p:extLst>
      <p:ext uri="{BB962C8B-B14F-4D97-AF65-F5344CB8AC3E}">
        <p14:creationId xmlns:p14="http://schemas.microsoft.com/office/powerpoint/2010/main" val="645572095"/>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927C84D7-00F1-A221-8FC8-A1B2BB927E9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44932" y="2012438"/>
            <a:ext cx="5102135" cy="3414969"/>
          </a:xfrm>
          <a:prstGeom prst="rect">
            <a:avLst/>
          </a:prstGeom>
          <a:ln>
            <a:noFill/>
          </a:ln>
          <a:effectLst>
            <a:outerShdw blurRad="292100" dist="139700" dir="2700000" algn="tl" rotWithShape="0">
              <a:srgbClr val="333333">
                <a:alpha val="65000"/>
              </a:srgbClr>
            </a:outerShdw>
          </a:effectLst>
        </p:spPr>
      </p:pic>
      <p:grpSp>
        <p:nvGrpSpPr>
          <p:cNvPr id="4" name="Group 3">
            <a:extLst>
              <a:ext uri="{FF2B5EF4-FFF2-40B4-BE49-F238E27FC236}">
                <a16:creationId xmlns:a16="http://schemas.microsoft.com/office/drawing/2014/main" id="{75DB71CA-4498-B277-A264-14D7ECA54F2A}"/>
              </a:ext>
            </a:extLst>
          </p:cNvPr>
          <p:cNvGrpSpPr/>
          <p:nvPr/>
        </p:nvGrpSpPr>
        <p:grpSpPr>
          <a:xfrm>
            <a:off x="838200" y="298762"/>
            <a:ext cx="10515600" cy="1324682"/>
            <a:chOff x="0" y="880"/>
            <a:chExt cx="10515600" cy="1324682"/>
          </a:xfrm>
        </p:grpSpPr>
        <p:sp>
          <p:nvSpPr>
            <p:cNvPr id="5" name="Rectangle: Rounded Corners 4">
              <a:extLst>
                <a:ext uri="{FF2B5EF4-FFF2-40B4-BE49-F238E27FC236}">
                  <a16:creationId xmlns:a16="http://schemas.microsoft.com/office/drawing/2014/main" id="{8E8643A9-DB6A-DFC8-EC4A-8FDAF06ED7EC}"/>
                </a:ext>
              </a:extLst>
            </p:cNvPr>
            <p:cNvSpPr/>
            <p:nvPr/>
          </p:nvSpPr>
          <p:spPr>
            <a:xfrm>
              <a:off x="0" y="880"/>
              <a:ext cx="10515600" cy="1324682"/>
            </a:xfrm>
            <a:prstGeom prst="roundRect">
              <a:avLst/>
            </a:prstGeom>
          </p:spPr>
          <p:style>
            <a:lnRef idx="2">
              <a:schemeClr val="lt1">
                <a:hueOff val="0"/>
                <a:satOff val="0"/>
                <a:lumOff val="0"/>
                <a:alphaOff val="0"/>
              </a:schemeClr>
            </a:lnRef>
            <a:fillRef idx="1">
              <a:schemeClr val="accent6">
                <a:shade val="80000"/>
                <a:hueOff val="0"/>
                <a:satOff val="0"/>
                <a:lumOff val="0"/>
                <a:alphaOff val="0"/>
              </a:schemeClr>
            </a:fillRef>
            <a:effectRef idx="0">
              <a:schemeClr val="accent6">
                <a:shade val="80000"/>
                <a:hueOff val="0"/>
                <a:satOff val="0"/>
                <a:lumOff val="0"/>
                <a:alphaOff val="0"/>
              </a:schemeClr>
            </a:effectRef>
            <a:fontRef idx="minor">
              <a:schemeClr val="lt1"/>
            </a:fontRef>
          </p:style>
          <p:txBody>
            <a:bodyPr/>
            <a:lstStyle/>
            <a:p>
              <a:endParaRPr lang="en-IN"/>
            </a:p>
          </p:txBody>
        </p:sp>
        <p:sp>
          <p:nvSpPr>
            <p:cNvPr id="6" name="Rectangle: Rounded Corners 4">
              <a:extLst>
                <a:ext uri="{FF2B5EF4-FFF2-40B4-BE49-F238E27FC236}">
                  <a16:creationId xmlns:a16="http://schemas.microsoft.com/office/drawing/2014/main" id="{1EAB9A42-2078-DD2E-962A-CA3DD3C5EDD2}"/>
                </a:ext>
              </a:extLst>
            </p:cNvPr>
            <p:cNvSpPr txBox="1"/>
            <p:nvPr/>
          </p:nvSpPr>
          <p:spPr>
            <a:xfrm>
              <a:off x="64666" y="65546"/>
              <a:ext cx="10386268" cy="119535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67640" tIns="167640" rIns="167640" bIns="167640" numCol="1" spcCol="1270" anchor="ctr" anchorCtr="0">
              <a:noAutofit/>
            </a:bodyPr>
            <a:lstStyle/>
            <a:p>
              <a:pPr marL="0" lvl="0" indent="0" algn="ctr" defTabSz="1955800">
                <a:lnSpc>
                  <a:spcPct val="90000"/>
                </a:lnSpc>
                <a:spcBef>
                  <a:spcPct val="0"/>
                </a:spcBef>
                <a:spcAft>
                  <a:spcPct val="35000"/>
                </a:spcAft>
                <a:buNone/>
              </a:pPr>
              <a:r>
                <a:rPr lang="en-US" sz="4400" b="1" dirty="0"/>
                <a:t>Block Diagram</a:t>
              </a:r>
              <a:endParaRPr lang="en-IN" sz="1800" kern="1200" dirty="0"/>
            </a:p>
          </p:txBody>
        </p:sp>
      </p:grpSp>
      <p:sp>
        <p:nvSpPr>
          <p:cNvPr id="10" name="TextBox 9">
            <a:extLst>
              <a:ext uri="{FF2B5EF4-FFF2-40B4-BE49-F238E27FC236}">
                <a16:creationId xmlns:a16="http://schemas.microsoft.com/office/drawing/2014/main" id="{BC5E35DC-6DA0-3CC9-49CE-F4848657C052}"/>
              </a:ext>
            </a:extLst>
          </p:cNvPr>
          <p:cNvSpPr txBox="1"/>
          <p:nvPr/>
        </p:nvSpPr>
        <p:spPr>
          <a:xfrm>
            <a:off x="3544932" y="5699061"/>
            <a:ext cx="5102135" cy="646331"/>
          </a:xfrm>
          <a:prstGeom prst="rect">
            <a:avLst/>
          </a:prstGeom>
          <a:noFill/>
        </p:spPr>
        <p:txBody>
          <a:bodyPr wrap="square">
            <a:spAutoFit/>
          </a:bodyPr>
          <a:lstStyle/>
          <a:p>
            <a:r>
              <a:rPr lang="en-US" sz="1200" i="1" dirty="0">
                <a:solidFill>
                  <a:schemeClr val="accent6">
                    <a:lumMod val="50000"/>
                  </a:schemeClr>
                </a:solidFill>
              </a:rPr>
              <a:t>The ultrasonic sensor detects a vehicle, Arduino processes the signal, and the servo motor automatically opens and closes the parking gate using power supply</a:t>
            </a:r>
            <a:r>
              <a:rPr lang="en-US" sz="1200" i="1" dirty="0"/>
              <a:t>.</a:t>
            </a:r>
            <a:endParaRPr lang="en-IN" sz="1200" i="1" dirty="0"/>
          </a:p>
        </p:txBody>
      </p:sp>
    </p:spTree>
    <p:extLst>
      <p:ext uri="{BB962C8B-B14F-4D97-AF65-F5344CB8AC3E}">
        <p14:creationId xmlns:p14="http://schemas.microsoft.com/office/powerpoint/2010/main" val="3774184758"/>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79B23E-E49E-FEEE-E255-283462B34CF1}"/>
              </a:ext>
            </a:extLst>
          </p:cNvPr>
          <p:cNvSpPr>
            <a:spLocks noGrp="1"/>
          </p:cNvSpPr>
          <p:nvPr>
            <p:ph idx="1"/>
          </p:nvPr>
        </p:nvSpPr>
        <p:spPr>
          <a:xfrm>
            <a:off x="838200" y="2199251"/>
            <a:ext cx="10515600" cy="3837756"/>
          </a:xfrm>
        </p:spPr>
        <p:txBody>
          <a:bodyPr/>
          <a:lstStyle/>
          <a:p>
            <a:r>
              <a:rPr lang="en-IN" b="1" dirty="0">
                <a:solidFill>
                  <a:schemeClr val="accent6">
                    <a:lumMod val="50000"/>
                  </a:schemeClr>
                </a:solidFill>
              </a:rPr>
              <a:t>AIM:</a:t>
            </a:r>
            <a:br>
              <a:rPr lang="en-IN" dirty="0">
                <a:solidFill>
                  <a:schemeClr val="accent6">
                    <a:lumMod val="50000"/>
                  </a:schemeClr>
                </a:solidFill>
              </a:rPr>
            </a:br>
            <a:r>
              <a:rPr lang="en-IN" dirty="0">
                <a:solidFill>
                  <a:schemeClr val="accent6">
                    <a:lumMod val="50000"/>
                  </a:schemeClr>
                </a:solidFill>
              </a:rPr>
              <a:t>To design a smart parking system using Arduino and ultrasonic sensor.</a:t>
            </a:r>
          </a:p>
          <a:p>
            <a:r>
              <a:rPr lang="en-IN" b="1" dirty="0">
                <a:solidFill>
                  <a:schemeClr val="accent6">
                    <a:lumMod val="50000"/>
                  </a:schemeClr>
                </a:solidFill>
              </a:rPr>
              <a:t>OBJECTIVES:</a:t>
            </a:r>
            <a:endParaRPr lang="en-IN" dirty="0">
              <a:solidFill>
                <a:schemeClr val="accent6">
                  <a:lumMod val="50000"/>
                </a:schemeClr>
              </a:solidFill>
            </a:endParaRPr>
          </a:p>
          <a:p>
            <a:r>
              <a:rPr lang="en-IN" dirty="0">
                <a:solidFill>
                  <a:schemeClr val="accent6">
                    <a:lumMod val="50000"/>
                  </a:schemeClr>
                </a:solidFill>
              </a:rPr>
              <a:t>Detect vehicle using ultrasonic sensor </a:t>
            </a:r>
          </a:p>
          <a:p>
            <a:r>
              <a:rPr lang="en-IN" dirty="0">
                <a:solidFill>
                  <a:schemeClr val="accent6">
                    <a:lumMod val="50000"/>
                  </a:schemeClr>
                </a:solidFill>
              </a:rPr>
              <a:t>Automate gate using servo motor </a:t>
            </a:r>
          </a:p>
          <a:p>
            <a:r>
              <a:rPr lang="en-IN" dirty="0">
                <a:solidFill>
                  <a:schemeClr val="accent6">
                    <a:lumMod val="50000"/>
                  </a:schemeClr>
                </a:solidFill>
              </a:rPr>
              <a:t>Reduce human effort </a:t>
            </a:r>
          </a:p>
          <a:p>
            <a:r>
              <a:rPr lang="en-IN" dirty="0">
                <a:solidFill>
                  <a:schemeClr val="accent6">
                    <a:lumMod val="50000"/>
                  </a:schemeClr>
                </a:solidFill>
              </a:rPr>
              <a:t>Improve parking efficiency</a:t>
            </a:r>
          </a:p>
          <a:p>
            <a:pPr marL="0" indent="0">
              <a:buNone/>
            </a:pPr>
            <a:endParaRPr lang="en-IN" dirty="0"/>
          </a:p>
        </p:txBody>
      </p:sp>
      <p:grpSp>
        <p:nvGrpSpPr>
          <p:cNvPr id="4" name="Group 3">
            <a:extLst>
              <a:ext uri="{FF2B5EF4-FFF2-40B4-BE49-F238E27FC236}">
                <a16:creationId xmlns:a16="http://schemas.microsoft.com/office/drawing/2014/main" id="{601EDAF7-1973-3100-3D85-46DB2C51CA33}"/>
              </a:ext>
            </a:extLst>
          </p:cNvPr>
          <p:cNvGrpSpPr/>
          <p:nvPr/>
        </p:nvGrpSpPr>
        <p:grpSpPr>
          <a:xfrm>
            <a:off x="838200" y="298762"/>
            <a:ext cx="10515600" cy="1324682"/>
            <a:chOff x="0" y="880"/>
            <a:chExt cx="10515600" cy="1324682"/>
          </a:xfrm>
        </p:grpSpPr>
        <p:sp>
          <p:nvSpPr>
            <p:cNvPr id="5" name="Rectangle: Rounded Corners 4">
              <a:extLst>
                <a:ext uri="{FF2B5EF4-FFF2-40B4-BE49-F238E27FC236}">
                  <a16:creationId xmlns:a16="http://schemas.microsoft.com/office/drawing/2014/main" id="{A153FFDF-C73D-4454-B6AA-9EB69D31022E}"/>
                </a:ext>
              </a:extLst>
            </p:cNvPr>
            <p:cNvSpPr/>
            <p:nvPr/>
          </p:nvSpPr>
          <p:spPr>
            <a:xfrm>
              <a:off x="0" y="880"/>
              <a:ext cx="10515600" cy="1324682"/>
            </a:xfrm>
            <a:prstGeom prst="roundRect">
              <a:avLst/>
            </a:prstGeom>
          </p:spPr>
          <p:style>
            <a:lnRef idx="2">
              <a:schemeClr val="lt1">
                <a:hueOff val="0"/>
                <a:satOff val="0"/>
                <a:lumOff val="0"/>
                <a:alphaOff val="0"/>
              </a:schemeClr>
            </a:lnRef>
            <a:fillRef idx="1">
              <a:schemeClr val="accent6">
                <a:shade val="80000"/>
                <a:hueOff val="0"/>
                <a:satOff val="0"/>
                <a:lumOff val="0"/>
                <a:alphaOff val="0"/>
              </a:schemeClr>
            </a:fillRef>
            <a:effectRef idx="0">
              <a:schemeClr val="accent6">
                <a:shade val="80000"/>
                <a:hueOff val="0"/>
                <a:satOff val="0"/>
                <a:lumOff val="0"/>
                <a:alphaOff val="0"/>
              </a:schemeClr>
            </a:effectRef>
            <a:fontRef idx="minor">
              <a:schemeClr val="lt1"/>
            </a:fontRef>
          </p:style>
          <p:txBody>
            <a:bodyPr/>
            <a:lstStyle/>
            <a:p>
              <a:endParaRPr lang="en-IN"/>
            </a:p>
          </p:txBody>
        </p:sp>
        <p:sp>
          <p:nvSpPr>
            <p:cNvPr id="6" name="Rectangle: Rounded Corners 4">
              <a:extLst>
                <a:ext uri="{FF2B5EF4-FFF2-40B4-BE49-F238E27FC236}">
                  <a16:creationId xmlns:a16="http://schemas.microsoft.com/office/drawing/2014/main" id="{07C239A0-3E18-A9CA-35F4-FDE68E717EC0}"/>
                </a:ext>
              </a:extLst>
            </p:cNvPr>
            <p:cNvSpPr txBox="1"/>
            <p:nvPr/>
          </p:nvSpPr>
          <p:spPr>
            <a:xfrm>
              <a:off x="64666" y="65546"/>
              <a:ext cx="10386268" cy="119535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67640" tIns="167640" rIns="167640" bIns="167640" numCol="1" spcCol="1270" anchor="ctr" anchorCtr="0">
              <a:noAutofit/>
            </a:bodyPr>
            <a:lstStyle/>
            <a:p>
              <a:pPr marL="0" lvl="0" indent="0" algn="ctr" defTabSz="1955800">
                <a:lnSpc>
                  <a:spcPct val="90000"/>
                </a:lnSpc>
                <a:spcBef>
                  <a:spcPct val="0"/>
                </a:spcBef>
                <a:spcAft>
                  <a:spcPct val="35000"/>
                </a:spcAft>
                <a:buNone/>
              </a:pPr>
              <a:r>
                <a:rPr lang="en-US" sz="4400" b="1" kern="1200" dirty="0"/>
                <a:t>Ai</a:t>
              </a:r>
              <a:r>
                <a:rPr lang="en-US" sz="4400" b="1" dirty="0"/>
                <a:t>m &amp; Objectives</a:t>
              </a:r>
              <a:endParaRPr lang="en-IN" sz="1800" kern="1200" dirty="0"/>
            </a:p>
          </p:txBody>
        </p:sp>
      </p:grpSp>
    </p:spTree>
    <p:extLst>
      <p:ext uri="{BB962C8B-B14F-4D97-AF65-F5344CB8AC3E}">
        <p14:creationId xmlns:p14="http://schemas.microsoft.com/office/powerpoint/2010/main" val="1335857640"/>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048B37F9-3654-5367-9A24-969C47319F75}"/>
              </a:ext>
            </a:extLst>
          </p:cNvPr>
          <p:cNvPicPr>
            <a:picLocks noGrp="1" noChangeAspect="1"/>
          </p:cNvPicPr>
          <p:nvPr>
            <p:ph idx="1"/>
          </p:nvPr>
        </p:nvPicPr>
        <p:blipFill>
          <a:blip r:embed="rId2"/>
          <a:stretch>
            <a:fillRect/>
          </a:stretch>
        </p:blipFill>
        <p:spPr>
          <a:xfrm>
            <a:off x="3441290" y="1811303"/>
            <a:ext cx="5388078" cy="4068387"/>
          </a:xfrm>
          <a:prstGeom prst="rect">
            <a:avLst/>
          </a:prstGeom>
          <a:ln>
            <a:noFill/>
          </a:ln>
          <a:effectLst>
            <a:outerShdw blurRad="292100" dist="139700" dir="2700000" algn="tl" rotWithShape="0">
              <a:srgbClr val="333333">
                <a:alpha val="65000"/>
              </a:srgbClr>
            </a:outerShdw>
          </a:effectLst>
        </p:spPr>
      </p:pic>
      <p:grpSp>
        <p:nvGrpSpPr>
          <p:cNvPr id="4" name="Group 3">
            <a:extLst>
              <a:ext uri="{FF2B5EF4-FFF2-40B4-BE49-F238E27FC236}">
                <a16:creationId xmlns:a16="http://schemas.microsoft.com/office/drawing/2014/main" id="{376C7EAD-CCD9-B62F-458C-0F7FC2795674}"/>
              </a:ext>
            </a:extLst>
          </p:cNvPr>
          <p:cNvGrpSpPr/>
          <p:nvPr/>
        </p:nvGrpSpPr>
        <p:grpSpPr>
          <a:xfrm>
            <a:off x="838200" y="298762"/>
            <a:ext cx="10515600" cy="1324682"/>
            <a:chOff x="0" y="880"/>
            <a:chExt cx="10515600" cy="1324682"/>
          </a:xfrm>
        </p:grpSpPr>
        <p:sp>
          <p:nvSpPr>
            <p:cNvPr id="5" name="Rectangle: Rounded Corners 4">
              <a:extLst>
                <a:ext uri="{FF2B5EF4-FFF2-40B4-BE49-F238E27FC236}">
                  <a16:creationId xmlns:a16="http://schemas.microsoft.com/office/drawing/2014/main" id="{3774C0A2-9FED-7458-9834-2C4B5B12E35E}"/>
                </a:ext>
              </a:extLst>
            </p:cNvPr>
            <p:cNvSpPr/>
            <p:nvPr/>
          </p:nvSpPr>
          <p:spPr>
            <a:xfrm>
              <a:off x="0" y="880"/>
              <a:ext cx="10515600" cy="1324682"/>
            </a:xfrm>
            <a:prstGeom prst="roundRect">
              <a:avLst/>
            </a:prstGeom>
          </p:spPr>
          <p:style>
            <a:lnRef idx="2">
              <a:schemeClr val="lt1">
                <a:hueOff val="0"/>
                <a:satOff val="0"/>
                <a:lumOff val="0"/>
                <a:alphaOff val="0"/>
              </a:schemeClr>
            </a:lnRef>
            <a:fillRef idx="1">
              <a:schemeClr val="accent6">
                <a:shade val="80000"/>
                <a:hueOff val="0"/>
                <a:satOff val="0"/>
                <a:lumOff val="0"/>
                <a:alphaOff val="0"/>
              </a:schemeClr>
            </a:fillRef>
            <a:effectRef idx="0">
              <a:schemeClr val="accent6">
                <a:shade val="80000"/>
                <a:hueOff val="0"/>
                <a:satOff val="0"/>
                <a:lumOff val="0"/>
                <a:alphaOff val="0"/>
              </a:schemeClr>
            </a:effectRef>
            <a:fontRef idx="minor">
              <a:schemeClr val="lt1"/>
            </a:fontRef>
          </p:style>
          <p:txBody>
            <a:bodyPr/>
            <a:lstStyle/>
            <a:p>
              <a:endParaRPr lang="en-IN"/>
            </a:p>
          </p:txBody>
        </p:sp>
        <p:sp>
          <p:nvSpPr>
            <p:cNvPr id="6" name="Rectangle: Rounded Corners 4">
              <a:extLst>
                <a:ext uri="{FF2B5EF4-FFF2-40B4-BE49-F238E27FC236}">
                  <a16:creationId xmlns:a16="http://schemas.microsoft.com/office/drawing/2014/main" id="{0AF78716-AA40-4AE2-8805-CE9E59EEF291}"/>
                </a:ext>
              </a:extLst>
            </p:cNvPr>
            <p:cNvSpPr txBox="1"/>
            <p:nvPr/>
          </p:nvSpPr>
          <p:spPr>
            <a:xfrm>
              <a:off x="64666" y="65546"/>
              <a:ext cx="10386268" cy="119535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67640" tIns="167640" rIns="167640" bIns="167640" numCol="1" spcCol="1270" anchor="ctr" anchorCtr="0">
              <a:noAutofit/>
            </a:bodyPr>
            <a:lstStyle/>
            <a:p>
              <a:pPr marL="0" lvl="0" indent="0" algn="ctr" defTabSz="1955800">
                <a:lnSpc>
                  <a:spcPct val="90000"/>
                </a:lnSpc>
                <a:spcBef>
                  <a:spcPct val="0"/>
                </a:spcBef>
                <a:spcAft>
                  <a:spcPct val="35000"/>
                </a:spcAft>
                <a:buNone/>
              </a:pPr>
              <a:r>
                <a:rPr lang="en-US" sz="4400" b="1" dirty="0"/>
                <a:t>Flow Chart</a:t>
              </a:r>
              <a:endParaRPr lang="en-IN" sz="1800" kern="1200" dirty="0"/>
            </a:p>
          </p:txBody>
        </p:sp>
      </p:grpSp>
      <p:sp>
        <p:nvSpPr>
          <p:cNvPr id="9" name="Rectangle 1">
            <a:extLst>
              <a:ext uri="{FF2B5EF4-FFF2-40B4-BE49-F238E27FC236}">
                <a16:creationId xmlns:a16="http://schemas.microsoft.com/office/drawing/2014/main" id="{6EF93836-B0BE-EE19-E059-3D7EFED1C206}"/>
              </a:ext>
            </a:extLst>
          </p:cNvPr>
          <p:cNvSpPr>
            <a:spLocks noChangeArrowheads="1"/>
          </p:cNvSpPr>
          <p:nvPr/>
        </p:nvSpPr>
        <p:spPr bwMode="auto">
          <a:xfrm>
            <a:off x="3441290" y="6067549"/>
            <a:ext cx="538807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1" u="none" strike="noStrike" cap="none" normalizeH="0" baseline="0" dirty="0">
                <a:ln>
                  <a:noFill/>
                </a:ln>
                <a:solidFill>
                  <a:schemeClr val="accent6">
                    <a:lumMod val="50000"/>
                  </a:schemeClr>
                </a:solidFill>
                <a:effectLst/>
                <a:latin typeface="Arial" panose="020B0604020202020204" pitchFamily="34" charset="0"/>
              </a:rPr>
              <a:t>The system measures distance using a sensor, and if a vehicle is detected, it opens the gate, waits, then closes it and repeats the process.</a:t>
            </a:r>
          </a:p>
        </p:txBody>
      </p:sp>
    </p:spTree>
    <p:extLst>
      <p:ext uri="{BB962C8B-B14F-4D97-AF65-F5344CB8AC3E}">
        <p14:creationId xmlns:p14="http://schemas.microsoft.com/office/powerpoint/2010/main" val="3849712612"/>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7EA08611-E171-B9CE-0AB5-87F3D91A7E8B}"/>
              </a:ext>
            </a:extLst>
          </p:cNvPr>
          <p:cNvGrpSpPr/>
          <p:nvPr/>
        </p:nvGrpSpPr>
        <p:grpSpPr>
          <a:xfrm>
            <a:off x="838200" y="298762"/>
            <a:ext cx="10515600" cy="1324682"/>
            <a:chOff x="0" y="880"/>
            <a:chExt cx="10515600" cy="1324682"/>
          </a:xfrm>
        </p:grpSpPr>
        <p:sp>
          <p:nvSpPr>
            <p:cNvPr id="5" name="Rectangle: Rounded Corners 4">
              <a:extLst>
                <a:ext uri="{FF2B5EF4-FFF2-40B4-BE49-F238E27FC236}">
                  <a16:creationId xmlns:a16="http://schemas.microsoft.com/office/drawing/2014/main" id="{FD1E8C5B-1793-8E5F-0BE6-049F4D56312D}"/>
                </a:ext>
              </a:extLst>
            </p:cNvPr>
            <p:cNvSpPr/>
            <p:nvPr/>
          </p:nvSpPr>
          <p:spPr>
            <a:xfrm>
              <a:off x="0" y="880"/>
              <a:ext cx="10515600" cy="1324682"/>
            </a:xfrm>
            <a:prstGeom prst="roundRect">
              <a:avLst/>
            </a:prstGeom>
          </p:spPr>
          <p:style>
            <a:lnRef idx="2">
              <a:schemeClr val="lt1">
                <a:hueOff val="0"/>
                <a:satOff val="0"/>
                <a:lumOff val="0"/>
                <a:alphaOff val="0"/>
              </a:schemeClr>
            </a:lnRef>
            <a:fillRef idx="1">
              <a:schemeClr val="accent6">
                <a:shade val="80000"/>
                <a:hueOff val="0"/>
                <a:satOff val="0"/>
                <a:lumOff val="0"/>
                <a:alphaOff val="0"/>
              </a:schemeClr>
            </a:fillRef>
            <a:effectRef idx="0">
              <a:schemeClr val="accent6">
                <a:shade val="80000"/>
                <a:hueOff val="0"/>
                <a:satOff val="0"/>
                <a:lumOff val="0"/>
                <a:alphaOff val="0"/>
              </a:schemeClr>
            </a:effectRef>
            <a:fontRef idx="minor">
              <a:schemeClr val="lt1"/>
            </a:fontRef>
          </p:style>
          <p:txBody>
            <a:bodyPr/>
            <a:lstStyle/>
            <a:p>
              <a:endParaRPr lang="en-IN"/>
            </a:p>
          </p:txBody>
        </p:sp>
        <p:sp>
          <p:nvSpPr>
            <p:cNvPr id="6" name="Rectangle: Rounded Corners 4">
              <a:extLst>
                <a:ext uri="{FF2B5EF4-FFF2-40B4-BE49-F238E27FC236}">
                  <a16:creationId xmlns:a16="http://schemas.microsoft.com/office/drawing/2014/main" id="{C3A58BB6-7982-B0FE-ADF0-37719AC5D106}"/>
                </a:ext>
              </a:extLst>
            </p:cNvPr>
            <p:cNvSpPr txBox="1"/>
            <p:nvPr/>
          </p:nvSpPr>
          <p:spPr>
            <a:xfrm>
              <a:off x="64666" y="65546"/>
              <a:ext cx="10386268" cy="119535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67640" tIns="167640" rIns="167640" bIns="167640" numCol="1" spcCol="1270" anchor="ctr" anchorCtr="0">
              <a:noAutofit/>
            </a:bodyPr>
            <a:lstStyle/>
            <a:p>
              <a:pPr marL="0" lvl="0" indent="0" algn="ctr" defTabSz="1955800">
                <a:lnSpc>
                  <a:spcPct val="90000"/>
                </a:lnSpc>
                <a:spcBef>
                  <a:spcPct val="0"/>
                </a:spcBef>
                <a:spcAft>
                  <a:spcPct val="35000"/>
                </a:spcAft>
                <a:buNone/>
              </a:pPr>
              <a:r>
                <a:rPr lang="en-US" sz="4400" b="1" kern="1200" dirty="0"/>
                <a:t>Project picture</a:t>
              </a:r>
              <a:endParaRPr lang="en-IN" sz="1800" kern="1200" dirty="0"/>
            </a:p>
          </p:txBody>
        </p:sp>
      </p:grpSp>
      <p:pic>
        <p:nvPicPr>
          <p:cNvPr id="14" name="Picture 13">
            <a:extLst>
              <a:ext uri="{FF2B5EF4-FFF2-40B4-BE49-F238E27FC236}">
                <a16:creationId xmlns:a16="http://schemas.microsoft.com/office/drawing/2014/main" id="{7B27228B-C2FB-D112-09A0-76F2D7125D50}"/>
              </a:ext>
            </a:extLst>
          </p:cNvPr>
          <p:cNvPicPr>
            <a:picLocks noChangeAspect="1"/>
          </p:cNvPicPr>
          <p:nvPr/>
        </p:nvPicPr>
        <p:blipFill>
          <a:blip r:embed="rId2"/>
          <a:stretch>
            <a:fillRect/>
          </a:stretch>
        </p:blipFill>
        <p:spPr>
          <a:xfrm>
            <a:off x="902866" y="2007223"/>
            <a:ext cx="3956487" cy="2564778"/>
          </a:xfrm>
          <a:prstGeom prst="rect">
            <a:avLst/>
          </a:prstGeom>
        </p:spPr>
      </p:pic>
      <p:pic>
        <p:nvPicPr>
          <p:cNvPr id="16" name="Picture 15">
            <a:extLst>
              <a:ext uri="{FF2B5EF4-FFF2-40B4-BE49-F238E27FC236}">
                <a16:creationId xmlns:a16="http://schemas.microsoft.com/office/drawing/2014/main" id="{65B5E154-AC96-AE21-5846-B15FC5F59D07}"/>
              </a:ext>
            </a:extLst>
          </p:cNvPr>
          <p:cNvPicPr>
            <a:picLocks noChangeAspect="1"/>
          </p:cNvPicPr>
          <p:nvPr/>
        </p:nvPicPr>
        <p:blipFill>
          <a:blip r:embed="rId3"/>
          <a:stretch>
            <a:fillRect/>
          </a:stretch>
        </p:blipFill>
        <p:spPr>
          <a:xfrm>
            <a:off x="7332649" y="2007223"/>
            <a:ext cx="3956487" cy="2564778"/>
          </a:xfrm>
          <a:prstGeom prst="rect">
            <a:avLst/>
          </a:prstGeom>
        </p:spPr>
      </p:pic>
      <p:sp>
        <p:nvSpPr>
          <p:cNvPr id="17" name="Rectangle 7">
            <a:extLst>
              <a:ext uri="{FF2B5EF4-FFF2-40B4-BE49-F238E27FC236}">
                <a16:creationId xmlns:a16="http://schemas.microsoft.com/office/drawing/2014/main" id="{5191C1A2-DB95-81E0-7E3D-9A9431E14969}"/>
              </a:ext>
            </a:extLst>
          </p:cNvPr>
          <p:cNvSpPr>
            <a:spLocks noChangeArrowheads="1"/>
          </p:cNvSpPr>
          <p:nvPr/>
        </p:nvSpPr>
        <p:spPr bwMode="auto">
          <a:xfrm>
            <a:off x="838199" y="5048113"/>
            <a:ext cx="402115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1" u="none" strike="noStrike" cap="none" normalizeH="0" baseline="0" dirty="0">
                <a:ln>
                  <a:noFill/>
                </a:ln>
                <a:solidFill>
                  <a:schemeClr val="tx1"/>
                </a:solidFill>
                <a:effectLst/>
                <a:latin typeface="Arial" panose="020B0604020202020204" pitchFamily="34" charset="0"/>
              </a:rPr>
              <a:t>This setup shows a real smart parking prototype where the ultrasonic sensor detects a car and the Arduino controls a servo motor to automatically open and close the gate.</a:t>
            </a:r>
          </a:p>
        </p:txBody>
      </p:sp>
      <p:sp>
        <p:nvSpPr>
          <p:cNvPr id="18" name="Rectangle 8">
            <a:extLst>
              <a:ext uri="{FF2B5EF4-FFF2-40B4-BE49-F238E27FC236}">
                <a16:creationId xmlns:a16="http://schemas.microsoft.com/office/drawing/2014/main" id="{89C27860-D0F2-DE7F-8D6B-C8CBB4B32723}"/>
              </a:ext>
            </a:extLst>
          </p:cNvPr>
          <p:cNvSpPr>
            <a:spLocks noChangeArrowheads="1"/>
          </p:cNvSpPr>
          <p:nvPr/>
        </p:nvSpPr>
        <p:spPr bwMode="auto">
          <a:xfrm>
            <a:off x="7332649" y="5048113"/>
            <a:ext cx="402115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1" u="none" strike="noStrike" cap="none" normalizeH="0" baseline="0">
                <a:ln>
                  <a:noFill/>
                </a:ln>
                <a:solidFill>
                  <a:schemeClr val="accent6">
                    <a:lumMod val="50000"/>
                  </a:schemeClr>
                </a:solidFill>
                <a:effectLst/>
                <a:latin typeface="Arial" panose="020B0604020202020204" pitchFamily="34" charset="0"/>
              </a:rPr>
              <a:t>This image shows the working model where the ultrasonic sensor detects the approaching car and the Arduino activates the servo motor to lift the gate, allowing the vehicle to enter automatically.</a:t>
            </a:r>
          </a:p>
        </p:txBody>
      </p:sp>
    </p:spTree>
    <p:extLst>
      <p:ext uri="{BB962C8B-B14F-4D97-AF65-F5344CB8AC3E}">
        <p14:creationId xmlns:p14="http://schemas.microsoft.com/office/powerpoint/2010/main" val="1553510368"/>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CAD1F39-0388-C379-1978-3E270447BB8F}"/>
              </a:ext>
            </a:extLst>
          </p:cNvPr>
          <p:cNvGrpSpPr/>
          <p:nvPr/>
        </p:nvGrpSpPr>
        <p:grpSpPr>
          <a:xfrm>
            <a:off x="838200" y="298762"/>
            <a:ext cx="10515600" cy="1324682"/>
            <a:chOff x="0" y="880"/>
            <a:chExt cx="10515600" cy="1324682"/>
          </a:xfrm>
        </p:grpSpPr>
        <p:sp>
          <p:nvSpPr>
            <p:cNvPr id="5" name="Rectangle: Rounded Corners 4">
              <a:extLst>
                <a:ext uri="{FF2B5EF4-FFF2-40B4-BE49-F238E27FC236}">
                  <a16:creationId xmlns:a16="http://schemas.microsoft.com/office/drawing/2014/main" id="{371A6A27-D7AF-6CD7-DA6F-7B82F9325F9F}"/>
                </a:ext>
              </a:extLst>
            </p:cNvPr>
            <p:cNvSpPr/>
            <p:nvPr/>
          </p:nvSpPr>
          <p:spPr>
            <a:xfrm>
              <a:off x="0" y="880"/>
              <a:ext cx="10515600" cy="1324682"/>
            </a:xfrm>
            <a:prstGeom prst="roundRect">
              <a:avLst/>
            </a:prstGeom>
          </p:spPr>
          <p:style>
            <a:lnRef idx="2">
              <a:schemeClr val="lt1">
                <a:hueOff val="0"/>
                <a:satOff val="0"/>
                <a:lumOff val="0"/>
                <a:alphaOff val="0"/>
              </a:schemeClr>
            </a:lnRef>
            <a:fillRef idx="1">
              <a:schemeClr val="accent6">
                <a:shade val="80000"/>
                <a:hueOff val="0"/>
                <a:satOff val="0"/>
                <a:lumOff val="0"/>
                <a:alphaOff val="0"/>
              </a:schemeClr>
            </a:fillRef>
            <a:effectRef idx="0">
              <a:schemeClr val="accent6">
                <a:shade val="80000"/>
                <a:hueOff val="0"/>
                <a:satOff val="0"/>
                <a:lumOff val="0"/>
                <a:alphaOff val="0"/>
              </a:schemeClr>
            </a:effectRef>
            <a:fontRef idx="minor">
              <a:schemeClr val="lt1"/>
            </a:fontRef>
          </p:style>
          <p:txBody>
            <a:bodyPr/>
            <a:lstStyle/>
            <a:p>
              <a:endParaRPr lang="en-IN"/>
            </a:p>
          </p:txBody>
        </p:sp>
        <p:sp>
          <p:nvSpPr>
            <p:cNvPr id="6" name="Rectangle: Rounded Corners 4">
              <a:extLst>
                <a:ext uri="{FF2B5EF4-FFF2-40B4-BE49-F238E27FC236}">
                  <a16:creationId xmlns:a16="http://schemas.microsoft.com/office/drawing/2014/main" id="{CC559D0A-3315-6F02-55DD-1564A645B450}"/>
                </a:ext>
              </a:extLst>
            </p:cNvPr>
            <p:cNvSpPr txBox="1"/>
            <p:nvPr/>
          </p:nvSpPr>
          <p:spPr>
            <a:xfrm>
              <a:off x="64666" y="65546"/>
              <a:ext cx="10386268" cy="119535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67640" tIns="167640" rIns="167640" bIns="167640" numCol="1" spcCol="1270" anchor="ctr" anchorCtr="0">
              <a:noAutofit/>
            </a:bodyPr>
            <a:lstStyle/>
            <a:p>
              <a:pPr marL="0" lvl="0" indent="0" algn="ctr" defTabSz="1955800">
                <a:lnSpc>
                  <a:spcPct val="90000"/>
                </a:lnSpc>
                <a:spcBef>
                  <a:spcPct val="0"/>
                </a:spcBef>
                <a:spcAft>
                  <a:spcPct val="35000"/>
                </a:spcAft>
                <a:buNone/>
              </a:pPr>
              <a:r>
                <a:rPr lang="en-US" sz="4400" b="1" dirty="0"/>
                <a:t>Budget</a:t>
              </a:r>
              <a:endParaRPr lang="en-IN" sz="1800" kern="1200" dirty="0"/>
            </a:p>
          </p:txBody>
        </p:sp>
      </p:grpSp>
      <p:graphicFrame>
        <p:nvGraphicFramePr>
          <p:cNvPr id="9" name="Table 8">
            <a:extLst>
              <a:ext uri="{FF2B5EF4-FFF2-40B4-BE49-F238E27FC236}">
                <a16:creationId xmlns:a16="http://schemas.microsoft.com/office/drawing/2014/main" id="{1AF7A41F-1D54-C3F6-1701-DDADE927741B}"/>
              </a:ext>
            </a:extLst>
          </p:cNvPr>
          <p:cNvGraphicFramePr>
            <a:graphicFrameLocks noGrp="1"/>
          </p:cNvGraphicFramePr>
          <p:nvPr>
            <p:extLst>
              <p:ext uri="{D42A27DB-BD31-4B8C-83A1-F6EECF244321}">
                <p14:modId xmlns:p14="http://schemas.microsoft.com/office/powerpoint/2010/main" val="4176239038"/>
              </p:ext>
            </p:extLst>
          </p:nvPr>
        </p:nvGraphicFramePr>
        <p:xfrm>
          <a:off x="838201" y="2273163"/>
          <a:ext cx="10450932" cy="3301970"/>
        </p:xfrm>
        <a:graphic>
          <a:graphicData uri="http://schemas.openxmlformats.org/drawingml/2006/table">
            <a:tbl>
              <a:tblPr firstRow="1" bandRow="1">
                <a:tableStyleId>{93296810-A885-4BE3-A3E7-6D5BEEA58F35}</a:tableStyleId>
              </a:tblPr>
              <a:tblGrid>
                <a:gridCol w="3483644">
                  <a:extLst>
                    <a:ext uri="{9D8B030D-6E8A-4147-A177-3AD203B41FA5}">
                      <a16:colId xmlns:a16="http://schemas.microsoft.com/office/drawing/2014/main" val="681106637"/>
                    </a:ext>
                  </a:extLst>
                </a:gridCol>
                <a:gridCol w="3483644">
                  <a:extLst>
                    <a:ext uri="{9D8B030D-6E8A-4147-A177-3AD203B41FA5}">
                      <a16:colId xmlns:a16="http://schemas.microsoft.com/office/drawing/2014/main" val="731307499"/>
                    </a:ext>
                  </a:extLst>
                </a:gridCol>
                <a:gridCol w="3483644">
                  <a:extLst>
                    <a:ext uri="{9D8B030D-6E8A-4147-A177-3AD203B41FA5}">
                      <a16:colId xmlns:a16="http://schemas.microsoft.com/office/drawing/2014/main" val="2147589373"/>
                    </a:ext>
                  </a:extLst>
                </a:gridCol>
              </a:tblGrid>
              <a:tr h="471710">
                <a:tc>
                  <a:txBody>
                    <a:bodyPr/>
                    <a:lstStyle/>
                    <a:p>
                      <a:pPr algn="ctr">
                        <a:buNone/>
                      </a:pPr>
                      <a:r>
                        <a:rPr lang="en-IN" dirty="0" err="1"/>
                        <a:t>S.No</a:t>
                      </a:r>
                      <a:endParaRPr lang="en-IN" dirty="0"/>
                    </a:p>
                  </a:txBody>
                  <a:tcPr anchor="ctr"/>
                </a:tc>
                <a:tc>
                  <a:txBody>
                    <a:bodyPr/>
                    <a:lstStyle/>
                    <a:p>
                      <a:pPr algn="ctr">
                        <a:buNone/>
                      </a:pPr>
                      <a:r>
                        <a:rPr lang="en-IN" dirty="0"/>
                        <a:t>Component</a:t>
                      </a:r>
                    </a:p>
                  </a:txBody>
                  <a:tcPr anchor="ctr"/>
                </a:tc>
                <a:tc>
                  <a:txBody>
                    <a:bodyPr/>
                    <a:lstStyle/>
                    <a:p>
                      <a:pPr algn="ctr">
                        <a:buNone/>
                      </a:pPr>
                      <a:r>
                        <a:rPr lang="en-IN" dirty="0"/>
                        <a:t>Cost (₹)</a:t>
                      </a:r>
                    </a:p>
                  </a:txBody>
                  <a:tcPr anchor="ctr"/>
                </a:tc>
                <a:extLst>
                  <a:ext uri="{0D108BD9-81ED-4DB2-BD59-A6C34878D82A}">
                    <a16:rowId xmlns:a16="http://schemas.microsoft.com/office/drawing/2014/main" val="896791897"/>
                  </a:ext>
                </a:extLst>
              </a:tr>
              <a:tr h="471710">
                <a:tc>
                  <a:txBody>
                    <a:bodyPr/>
                    <a:lstStyle/>
                    <a:p>
                      <a:pPr algn="ctr"/>
                      <a:r>
                        <a:rPr lang="en-US" dirty="0">
                          <a:solidFill>
                            <a:schemeClr val="accent6">
                              <a:lumMod val="50000"/>
                            </a:schemeClr>
                          </a:solidFill>
                        </a:rPr>
                        <a:t>1.</a:t>
                      </a:r>
                      <a:endParaRPr lang="en-IN" dirty="0">
                        <a:solidFill>
                          <a:schemeClr val="accent6">
                            <a:lumMod val="50000"/>
                          </a:schemeClr>
                        </a:solidFill>
                      </a:endParaRPr>
                    </a:p>
                  </a:txBody>
                  <a:tcPr/>
                </a:tc>
                <a:tc>
                  <a:txBody>
                    <a:bodyPr/>
                    <a:lstStyle/>
                    <a:p>
                      <a:pPr algn="ctr"/>
                      <a:r>
                        <a:rPr lang="en-US" dirty="0">
                          <a:solidFill>
                            <a:schemeClr val="accent6">
                              <a:lumMod val="50000"/>
                            </a:schemeClr>
                          </a:solidFill>
                        </a:rPr>
                        <a:t>Ultrasonic sensor</a:t>
                      </a:r>
                      <a:endParaRPr lang="en-IN" dirty="0">
                        <a:solidFill>
                          <a:schemeClr val="accent6">
                            <a:lumMod val="50000"/>
                          </a:schemeClr>
                        </a:solidFill>
                      </a:endParaRPr>
                    </a:p>
                  </a:txBody>
                  <a:tcPr/>
                </a:tc>
                <a:tc>
                  <a:txBody>
                    <a:bodyPr/>
                    <a:lstStyle/>
                    <a:p>
                      <a:pPr algn="ctr"/>
                      <a:r>
                        <a:rPr lang="en-US" dirty="0">
                          <a:solidFill>
                            <a:schemeClr val="accent6">
                              <a:lumMod val="50000"/>
                            </a:schemeClr>
                          </a:solidFill>
                        </a:rPr>
                        <a:t>150</a:t>
                      </a:r>
                      <a:endParaRPr lang="en-IN" dirty="0">
                        <a:solidFill>
                          <a:schemeClr val="accent6">
                            <a:lumMod val="50000"/>
                          </a:schemeClr>
                        </a:solidFill>
                      </a:endParaRPr>
                    </a:p>
                  </a:txBody>
                  <a:tcPr/>
                </a:tc>
                <a:extLst>
                  <a:ext uri="{0D108BD9-81ED-4DB2-BD59-A6C34878D82A}">
                    <a16:rowId xmlns:a16="http://schemas.microsoft.com/office/drawing/2014/main" val="1621165787"/>
                  </a:ext>
                </a:extLst>
              </a:tr>
              <a:tr h="471710">
                <a:tc>
                  <a:txBody>
                    <a:bodyPr/>
                    <a:lstStyle/>
                    <a:p>
                      <a:pPr algn="ctr"/>
                      <a:r>
                        <a:rPr lang="en-US" dirty="0">
                          <a:solidFill>
                            <a:schemeClr val="accent6">
                              <a:lumMod val="50000"/>
                            </a:schemeClr>
                          </a:solidFill>
                        </a:rPr>
                        <a:t>2.</a:t>
                      </a:r>
                      <a:endParaRPr lang="en-IN" dirty="0">
                        <a:solidFill>
                          <a:schemeClr val="accent6">
                            <a:lumMod val="50000"/>
                          </a:schemeClr>
                        </a:solidFill>
                      </a:endParaRPr>
                    </a:p>
                  </a:txBody>
                  <a:tcPr/>
                </a:tc>
                <a:tc>
                  <a:txBody>
                    <a:bodyPr/>
                    <a:lstStyle/>
                    <a:p>
                      <a:pPr algn="ctr"/>
                      <a:r>
                        <a:rPr lang="en-US" dirty="0">
                          <a:solidFill>
                            <a:schemeClr val="accent6">
                              <a:lumMod val="50000"/>
                            </a:schemeClr>
                          </a:solidFill>
                        </a:rPr>
                        <a:t>Servomotor</a:t>
                      </a:r>
                      <a:endParaRPr lang="en-IN" dirty="0">
                        <a:solidFill>
                          <a:schemeClr val="accent6">
                            <a:lumMod val="50000"/>
                          </a:schemeClr>
                        </a:solidFill>
                      </a:endParaRPr>
                    </a:p>
                  </a:txBody>
                  <a:tcPr/>
                </a:tc>
                <a:tc>
                  <a:txBody>
                    <a:bodyPr/>
                    <a:lstStyle/>
                    <a:p>
                      <a:pPr algn="ctr"/>
                      <a:r>
                        <a:rPr lang="en-US" dirty="0">
                          <a:solidFill>
                            <a:schemeClr val="accent6">
                              <a:lumMod val="50000"/>
                            </a:schemeClr>
                          </a:solidFill>
                        </a:rPr>
                        <a:t>150</a:t>
                      </a:r>
                      <a:endParaRPr lang="en-IN" dirty="0">
                        <a:solidFill>
                          <a:schemeClr val="accent6">
                            <a:lumMod val="50000"/>
                          </a:schemeClr>
                        </a:solidFill>
                      </a:endParaRPr>
                    </a:p>
                  </a:txBody>
                  <a:tcPr/>
                </a:tc>
                <a:extLst>
                  <a:ext uri="{0D108BD9-81ED-4DB2-BD59-A6C34878D82A}">
                    <a16:rowId xmlns:a16="http://schemas.microsoft.com/office/drawing/2014/main" val="113216071"/>
                  </a:ext>
                </a:extLst>
              </a:tr>
              <a:tr h="471710">
                <a:tc>
                  <a:txBody>
                    <a:bodyPr/>
                    <a:lstStyle/>
                    <a:p>
                      <a:pPr algn="ctr"/>
                      <a:r>
                        <a:rPr lang="en-US" dirty="0">
                          <a:solidFill>
                            <a:schemeClr val="accent6">
                              <a:lumMod val="50000"/>
                            </a:schemeClr>
                          </a:solidFill>
                        </a:rPr>
                        <a:t>3.</a:t>
                      </a:r>
                      <a:endParaRPr lang="en-IN" dirty="0">
                        <a:solidFill>
                          <a:schemeClr val="accent6">
                            <a:lumMod val="50000"/>
                          </a:schemeClr>
                        </a:solidFill>
                      </a:endParaRPr>
                    </a:p>
                  </a:txBody>
                  <a:tcPr/>
                </a:tc>
                <a:tc>
                  <a:txBody>
                    <a:bodyPr/>
                    <a:lstStyle/>
                    <a:p>
                      <a:pPr algn="ctr"/>
                      <a:r>
                        <a:rPr lang="en-US" dirty="0">
                          <a:solidFill>
                            <a:schemeClr val="accent6">
                              <a:lumMod val="50000"/>
                            </a:schemeClr>
                          </a:solidFill>
                        </a:rPr>
                        <a:t>Breadboard</a:t>
                      </a:r>
                      <a:endParaRPr lang="en-IN" dirty="0">
                        <a:solidFill>
                          <a:schemeClr val="accent6">
                            <a:lumMod val="50000"/>
                          </a:schemeClr>
                        </a:solidFill>
                      </a:endParaRPr>
                    </a:p>
                  </a:txBody>
                  <a:tcPr/>
                </a:tc>
                <a:tc>
                  <a:txBody>
                    <a:bodyPr/>
                    <a:lstStyle/>
                    <a:p>
                      <a:pPr algn="ctr"/>
                      <a:r>
                        <a:rPr lang="en-US" dirty="0">
                          <a:solidFill>
                            <a:schemeClr val="accent6">
                              <a:lumMod val="50000"/>
                            </a:schemeClr>
                          </a:solidFill>
                        </a:rPr>
                        <a:t>100</a:t>
                      </a:r>
                      <a:endParaRPr lang="en-IN" dirty="0">
                        <a:solidFill>
                          <a:schemeClr val="accent6">
                            <a:lumMod val="50000"/>
                          </a:schemeClr>
                        </a:solidFill>
                      </a:endParaRPr>
                    </a:p>
                  </a:txBody>
                  <a:tcPr/>
                </a:tc>
                <a:extLst>
                  <a:ext uri="{0D108BD9-81ED-4DB2-BD59-A6C34878D82A}">
                    <a16:rowId xmlns:a16="http://schemas.microsoft.com/office/drawing/2014/main" val="2271222798"/>
                  </a:ext>
                </a:extLst>
              </a:tr>
              <a:tr h="471710">
                <a:tc>
                  <a:txBody>
                    <a:bodyPr/>
                    <a:lstStyle/>
                    <a:p>
                      <a:pPr algn="ctr"/>
                      <a:r>
                        <a:rPr lang="en-US" dirty="0">
                          <a:solidFill>
                            <a:schemeClr val="accent6">
                              <a:lumMod val="50000"/>
                            </a:schemeClr>
                          </a:solidFill>
                        </a:rPr>
                        <a:t>4.</a:t>
                      </a:r>
                      <a:endParaRPr lang="en-IN" dirty="0">
                        <a:solidFill>
                          <a:schemeClr val="accent6">
                            <a:lumMod val="50000"/>
                          </a:schemeClr>
                        </a:solidFill>
                      </a:endParaRPr>
                    </a:p>
                  </a:txBody>
                  <a:tcPr/>
                </a:tc>
                <a:tc>
                  <a:txBody>
                    <a:bodyPr/>
                    <a:lstStyle/>
                    <a:p>
                      <a:pPr algn="ctr"/>
                      <a:r>
                        <a:rPr lang="en-US" dirty="0">
                          <a:solidFill>
                            <a:schemeClr val="accent6">
                              <a:lumMod val="50000"/>
                            </a:schemeClr>
                          </a:solidFill>
                        </a:rPr>
                        <a:t>Jumper wires</a:t>
                      </a:r>
                      <a:endParaRPr lang="en-IN" dirty="0">
                        <a:solidFill>
                          <a:schemeClr val="accent6">
                            <a:lumMod val="50000"/>
                          </a:schemeClr>
                        </a:solidFill>
                      </a:endParaRPr>
                    </a:p>
                  </a:txBody>
                  <a:tcPr/>
                </a:tc>
                <a:tc>
                  <a:txBody>
                    <a:bodyPr/>
                    <a:lstStyle/>
                    <a:p>
                      <a:pPr algn="ctr"/>
                      <a:r>
                        <a:rPr lang="en-US" dirty="0">
                          <a:solidFill>
                            <a:schemeClr val="accent6">
                              <a:lumMod val="50000"/>
                            </a:schemeClr>
                          </a:solidFill>
                        </a:rPr>
                        <a:t>150</a:t>
                      </a:r>
                      <a:endParaRPr lang="en-IN" dirty="0">
                        <a:solidFill>
                          <a:schemeClr val="accent6">
                            <a:lumMod val="50000"/>
                          </a:schemeClr>
                        </a:solidFill>
                      </a:endParaRPr>
                    </a:p>
                  </a:txBody>
                  <a:tcPr/>
                </a:tc>
                <a:extLst>
                  <a:ext uri="{0D108BD9-81ED-4DB2-BD59-A6C34878D82A}">
                    <a16:rowId xmlns:a16="http://schemas.microsoft.com/office/drawing/2014/main" val="795685943"/>
                  </a:ext>
                </a:extLst>
              </a:tr>
              <a:tr h="471710">
                <a:tc>
                  <a:txBody>
                    <a:bodyPr/>
                    <a:lstStyle/>
                    <a:p>
                      <a:pPr algn="ctr"/>
                      <a:r>
                        <a:rPr lang="en-US" dirty="0">
                          <a:solidFill>
                            <a:schemeClr val="accent6">
                              <a:lumMod val="50000"/>
                            </a:schemeClr>
                          </a:solidFill>
                        </a:rPr>
                        <a:t>5.</a:t>
                      </a:r>
                      <a:endParaRPr lang="en-IN" dirty="0">
                        <a:solidFill>
                          <a:schemeClr val="accent6">
                            <a:lumMod val="50000"/>
                          </a:schemeClr>
                        </a:solidFill>
                      </a:endParaRPr>
                    </a:p>
                  </a:txBody>
                  <a:tcPr/>
                </a:tc>
                <a:tc>
                  <a:txBody>
                    <a:bodyPr/>
                    <a:lstStyle/>
                    <a:p>
                      <a:pPr algn="ctr"/>
                      <a:r>
                        <a:rPr lang="en-US" dirty="0">
                          <a:solidFill>
                            <a:schemeClr val="accent6">
                              <a:lumMod val="50000"/>
                            </a:schemeClr>
                          </a:solidFill>
                        </a:rPr>
                        <a:t>Power supply</a:t>
                      </a:r>
                      <a:endParaRPr lang="en-IN" dirty="0">
                        <a:solidFill>
                          <a:schemeClr val="accent6">
                            <a:lumMod val="50000"/>
                          </a:schemeClr>
                        </a:solidFill>
                      </a:endParaRPr>
                    </a:p>
                  </a:txBody>
                  <a:tcPr/>
                </a:tc>
                <a:tc>
                  <a:txBody>
                    <a:bodyPr/>
                    <a:lstStyle/>
                    <a:p>
                      <a:pPr algn="ctr"/>
                      <a:r>
                        <a:rPr lang="en-US" dirty="0">
                          <a:solidFill>
                            <a:schemeClr val="accent6">
                              <a:lumMod val="50000"/>
                            </a:schemeClr>
                          </a:solidFill>
                        </a:rPr>
                        <a:t>150</a:t>
                      </a:r>
                      <a:endParaRPr lang="en-IN" dirty="0">
                        <a:solidFill>
                          <a:schemeClr val="accent6">
                            <a:lumMod val="50000"/>
                          </a:schemeClr>
                        </a:solidFill>
                      </a:endParaRPr>
                    </a:p>
                  </a:txBody>
                  <a:tcPr/>
                </a:tc>
                <a:extLst>
                  <a:ext uri="{0D108BD9-81ED-4DB2-BD59-A6C34878D82A}">
                    <a16:rowId xmlns:a16="http://schemas.microsoft.com/office/drawing/2014/main" val="851219338"/>
                  </a:ext>
                </a:extLst>
              </a:tr>
              <a:tr h="471710">
                <a:tc>
                  <a:txBody>
                    <a:bodyPr/>
                    <a:lstStyle/>
                    <a:p>
                      <a:endParaRPr lang="en-IN">
                        <a:solidFill>
                          <a:schemeClr val="accent6">
                            <a:lumMod val="50000"/>
                          </a:schemeClr>
                        </a:solidFill>
                      </a:endParaRPr>
                    </a:p>
                  </a:txBody>
                  <a:tcPr/>
                </a:tc>
                <a:tc>
                  <a:txBody>
                    <a:bodyPr/>
                    <a:lstStyle/>
                    <a:p>
                      <a:pPr algn="ctr"/>
                      <a:r>
                        <a:rPr lang="en-US" dirty="0">
                          <a:solidFill>
                            <a:schemeClr val="accent6">
                              <a:lumMod val="50000"/>
                            </a:schemeClr>
                          </a:solidFill>
                        </a:rPr>
                        <a:t>Total</a:t>
                      </a:r>
                      <a:endParaRPr lang="en-IN" dirty="0">
                        <a:solidFill>
                          <a:schemeClr val="accent6">
                            <a:lumMod val="50000"/>
                          </a:schemeClr>
                        </a:solidFill>
                      </a:endParaRPr>
                    </a:p>
                  </a:txBody>
                  <a:tcPr/>
                </a:tc>
                <a:tc>
                  <a:txBody>
                    <a:bodyPr/>
                    <a:lstStyle/>
                    <a:p>
                      <a:pPr algn="ctr"/>
                      <a:r>
                        <a:rPr lang="en-US" dirty="0">
                          <a:solidFill>
                            <a:schemeClr val="accent6">
                              <a:lumMod val="50000"/>
                            </a:schemeClr>
                          </a:solidFill>
                        </a:rPr>
                        <a:t>700</a:t>
                      </a:r>
                      <a:endParaRPr lang="en-IN" dirty="0">
                        <a:solidFill>
                          <a:schemeClr val="accent6">
                            <a:lumMod val="50000"/>
                          </a:schemeClr>
                        </a:solidFill>
                      </a:endParaRPr>
                    </a:p>
                  </a:txBody>
                  <a:tcPr/>
                </a:tc>
                <a:extLst>
                  <a:ext uri="{0D108BD9-81ED-4DB2-BD59-A6C34878D82A}">
                    <a16:rowId xmlns:a16="http://schemas.microsoft.com/office/drawing/2014/main" val="3579018170"/>
                  </a:ext>
                </a:extLst>
              </a:tr>
            </a:tbl>
          </a:graphicData>
        </a:graphic>
      </p:graphicFrame>
      <p:graphicFrame>
        <p:nvGraphicFramePr>
          <p:cNvPr id="2" name="Table 1">
            <a:extLst>
              <a:ext uri="{FF2B5EF4-FFF2-40B4-BE49-F238E27FC236}">
                <a16:creationId xmlns:a16="http://schemas.microsoft.com/office/drawing/2014/main" id="{F962D1A4-A40D-D54D-E1BE-10D83BE11661}"/>
              </a:ext>
            </a:extLst>
          </p:cNvPr>
          <p:cNvGraphicFramePr>
            <a:graphicFrameLocks noGrp="1"/>
          </p:cNvGraphicFramePr>
          <p:nvPr>
            <p:extLst>
              <p:ext uri="{D42A27DB-BD31-4B8C-83A1-F6EECF244321}">
                <p14:modId xmlns:p14="http://schemas.microsoft.com/office/powerpoint/2010/main" val="3023692108"/>
              </p:ext>
            </p:extLst>
          </p:nvPr>
        </p:nvGraphicFramePr>
        <p:xfrm>
          <a:off x="838201" y="2273163"/>
          <a:ext cx="10450932" cy="3773680"/>
        </p:xfrm>
        <a:graphic>
          <a:graphicData uri="http://schemas.openxmlformats.org/drawingml/2006/table">
            <a:tbl>
              <a:tblPr firstRow="1" bandRow="1">
                <a:tableStyleId>{93296810-A885-4BE3-A3E7-6D5BEEA58F35}</a:tableStyleId>
              </a:tblPr>
              <a:tblGrid>
                <a:gridCol w="3483644">
                  <a:extLst>
                    <a:ext uri="{9D8B030D-6E8A-4147-A177-3AD203B41FA5}">
                      <a16:colId xmlns:a16="http://schemas.microsoft.com/office/drawing/2014/main" val="681106637"/>
                    </a:ext>
                  </a:extLst>
                </a:gridCol>
                <a:gridCol w="3483644">
                  <a:extLst>
                    <a:ext uri="{9D8B030D-6E8A-4147-A177-3AD203B41FA5}">
                      <a16:colId xmlns:a16="http://schemas.microsoft.com/office/drawing/2014/main" val="731307499"/>
                    </a:ext>
                  </a:extLst>
                </a:gridCol>
                <a:gridCol w="3483644">
                  <a:extLst>
                    <a:ext uri="{9D8B030D-6E8A-4147-A177-3AD203B41FA5}">
                      <a16:colId xmlns:a16="http://schemas.microsoft.com/office/drawing/2014/main" val="2147589373"/>
                    </a:ext>
                  </a:extLst>
                </a:gridCol>
              </a:tblGrid>
              <a:tr h="471710">
                <a:tc>
                  <a:txBody>
                    <a:bodyPr/>
                    <a:lstStyle/>
                    <a:p>
                      <a:pPr algn="ctr">
                        <a:buNone/>
                      </a:pPr>
                      <a:r>
                        <a:rPr lang="en-IN" dirty="0" err="1"/>
                        <a:t>S.No</a:t>
                      </a:r>
                      <a:endParaRPr lang="en-IN" dirty="0"/>
                    </a:p>
                  </a:txBody>
                  <a:tcPr anchor="ctr"/>
                </a:tc>
                <a:tc>
                  <a:txBody>
                    <a:bodyPr/>
                    <a:lstStyle/>
                    <a:p>
                      <a:pPr algn="ctr">
                        <a:buNone/>
                      </a:pPr>
                      <a:r>
                        <a:rPr lang="en-IN" dirty="0"/>
                        <a:t>Component</a:t>
                      </a:r>
                    </a:p>
                  </a:txBody>
                  <a:tcPr anchor="ctr"/>
                </a:tc>
                <a:tc>
                  <a:txBody>
                    <a:bodyPr/>
                    <a:lstStyle/>
                    <a:p>
                      <a:pPr algn="ctr">
                        <a:buNone/>
                      </a:pPr>
                      <a:r>
                        <a:rPr lang="en-IN" dirty="0"/>
                        <a:t>Cost (₹)</a:t>
                      </a:r>
                    </a:p>
                  </a:txBody>
                  <a:tcPr anchor="ctr"/>
                </a:tc>
                <a:extLst>
                  <a:ext uri="{0D108BD9-81ED-4DB2-BD59-A6C34878D82A}">
                    <a16:rowId xmlns:a16="http://schemas.microsoft.com/office/drawing/2014/main" val="896791897"/>
                  </a:ext>
                </a:extLst>
              </a:tr>
              <a:tr h="471710">
                <a:tc>
                  <a:txBody>
                    <a:bodyPr/>
                    <a:lstStyle/>
                    <a:p>
                      <a:pPr algn="ctr">
                        <a:buNone/>
                      </a:pPr>
                      <a:r>
                        <a:rPr lang="en-US" dirty="0">
                          <a:solidFill>
                            <a:schemeClr val="accent6">
                              <a:lumMod val="50000"/>
                            </a:schemeClr>
                          </a:solidFill>
                        </a:rPr>
                        <a:t>1.</a:t>
                      </a:r>
                      <a:endParaRPr lang="en-IN" dirty="0">
                        <a:solidFill>
                          <a:schemeClr val="accent6">
                            <a:lumMod val="50000"/>
                          </a:schemeClr>
                        </a:solidFill>
                      </a:endParaRPr>
                    </a:p>
                  </a:txBody>
                  <a:tcPr anchor="ctr"/>
                </a:tc>
                <a:tc>
                  <a:txBody>
                    <a:bodyPr/>
                    <a:lstStyle/>
                    <a:p>
                      <a:pPr algn="ctr"/>
                      <a:r>
                        <a:rPr lang="en-US" dirty="0">
                          <a:solidFill>
                            <a:schemeClr val="accent6">
                              <a:lumMod val="50000"/>
                            </a:schemeClr>
                          </a:solidFill>
                        </a:rPr>
                        <a:t>Arduino UNO</a:t>
                      </a:r>
                      <a:endParaRPr lang="en-IN" dirty="0">
                        <a:solidFill>
                          <a:schemeClr val="accent6">
                            <a:lumMod val="50000"/>
                          </a:schemeClr>
                        </a:solidFill>
                      </a:endParaRPr>
                    </a:p>
                  </a:txBody>
                  <a:tcPr/>
                </a:tc>
                <a:tc>
                  <a:txBody>
                    <a:bodyPr/>
                    <a:lstStyle/>
                    <a:p>
                      <a:pPr algn="ctr"/>
                      <a:r>
                        <a:rPr lang="en-US" dirty="0">
                          <a:solidFill>
                            <a:schemeClr val="accent6">
                              <a:lumMod val="50000"/>
                            </a:schemeClr>
                          </a:solidFill>
                        </a:rPr>
                        <a:t>-</a:t>
                      </a:r>
                      <a:endParaRPr lang="en-IN" dirty="0">
                        <a:solidFill>
                          <a:schemeClr val="accent6">
                            <a:lumMod val="50000"/>
                          </a:schemeClr>
                        </a:solidFill>
                      </a:endParaRPr>
                    </a:p>
                  </a:txBody>
                  <a:tcPr/>
                </a:tc>
                <a:extLst>
                  <a:ext uri="{0D108BD9-81ED-4DB2-BD59-A6C34878D82A}">
                    <a16:rowId xmlns:a16="http://schemas.microsoft.com/office/drawing/2014/main" val="981454238"/>
                  </a:ext>
                </a:extLst>
              </a:tr>
              <a:tr h="471710">
                <a:tc>
                  <a:txBody>
                    <a:bodyPr/>
                    <a:lstStyle/>
                    <a:p>
                      <a:pPr algn="ctr"/>
                      <a:r>
                        <a:rPr lang="en-US" dirty="0">
                          <a:solidFill>
                            <a:schemeClr val="accent6">
                              <a:lumMod val="50000"/>
                            </a:schemeClr>
                          </a:solidFill>
                        </a:rPr>
                        <a:t>2.</a:t>
                      </a:r>
                      <a:endParaRPr lang="en-IN" dirty="0">
                        <a:solidFill>
                          <a:schemeClr val="accent6">
                            <a:lumMod val="50000"/>
                          </a:schemeClr>
                        </a:solidFill>
                      </a:endParaRPr>
                    </a:p>
                  </a:txBody>
                  <a:tcPr/>
                </a:tc>
                <a:tc>
                  <a:txBody>
                    <a:bodyPr/>
                    <a:lstStyle/>
                    <a:p>
                      <a:pPr algn="ctr"/>
                      <a:r>
                        <a:rPr lang="en-US" dirty="0">
                          <a:solidFill>
                            <a:schemeClr val="accent6">
                              <a:lumMod val="50000"/>
                            </a:schemeClr>
                          </a:solidFill>
                        </a:rPr>
                        <a:t>Ultrasonic sensor</a:t>
                      </a:r>
                      <a:endParaRPr lang="en-IN" dirty="0">
                        <a:solidFill>
                          <a:schemeClr val="accent6">
                            <a:lumMod val="50000"/>
                          </a:schemeClr>
                        </a:solidFill>
                      </a:endParaRPr>
                    </a:p>
                  </a:txBody>
                  <a:tcPr/>
                </a:tc>
                <a:tc>
                  <a:txBody>
                    <a:bodyPr/>
                    <a:lstStyle/>
                    <a:p>
                      <a:pPr algn="ctr"/>
                      <a:r>
                        <a:rPr lang="en-US" dirty="0">
                          <a:solidFill>
                            <a:schemeClr val="accent6">
                              <a:lumMod val="50000"/>
                            </a:schemeClr>
                          </a:solidFill>
                        </a:rPr>
                        <a:t>150</a:t>
                      </a:r>
                      <a:endParaRPr lang="en-IN" dirty="0">
                        <a:solidFill>
                          <a:schemeClr val="accent6">
                            <a:lumMod val="50000"/>
                          </a:schemeClr>
                        </a:solidFill>
                      </a:endParaRPr>
                    </a:p>
                  </a:txBody>
                  <a:tcPr/>
                </a:tc>
                <a:extLst>
                  <a:ext uri="{0D108BD9-81ED-4DB2-BD59-A6C34878D82A}">
                    <a16:rowId xmlns:a16="http://schemas.microsoft.com/office/drawing/2014/main" val="1621165787"/>
                  </a:ext>
                </a:extLst>
              </a:tr>
              <a:tr h="471710">
                <a:tc>
                  <a:txBody>
                    <a:bodyPr/>
                    <a:lstStyle/>
                    <a:p>
                      <a:pPr algn="ctr"/>
                      <a:r>
                        <a:rPr lang="en-US" dirty="0">
                          <a:solidFill>
                            <a:schemeClr val="accent6">
                              <a:lumMod val="50000"/>
                            </a:schemeClr>
                          </a:solidFill>
                        </a:rPr>
                        <a:t>3.</a:t>
                      </a:r>
                      <a:endParaRPr lang="en-IN" dirty="0">
                        <a:solidFill>
                          <a:schemeClr val="accent6">
                            <a:lumMod val="50000"/>
                          </a:schemeClr>
                        </a:solidFill>
                      </a:endParaRPr>
                    </a:p>
                  </a:txBody>
                  <a:tcPr/>
                </a:tc>
                <a:tc>
                  <a:txBody>
                    <a:bodyPr/>
                    <a:lstStyle/>
                    <a:p>
                      <a:pPr algn="ctr"/>
                      <a:r>
                        <a:rPr lang="en-US" dirty="0">
                          <a:solidFill>
                            <a:schemeClr val="accent6">
                              <a:lumMod val="50000"/>
                            </a:schemeClr>
                          </a:solidFill>
                        </a:rPr>
                        <a:t>Servomotor</a:t>
                      </a:r>
                      <a:endParaRPr lang="en-IN" dirty="0">
                        <a:solidFill>
                          <a:schemeClr val="accent6">
                            <a:lumMod val="50000"/>
                          </a:schemeClr>
                        </a:solidFill>
                      </a:endParaRPr>
                    </a:p>
                  </a:txBody>
                  <a:tcPr/>
                </a:tc>
                <a:tc>
                  <a:txBody>
                    <a:bodyPr/>
                    <a:lstStyle/>
                    <a:p>
                      <a:pPr algn="ctr"/>
                      <a:r>
                        <a:rPr lang="en-US" dirty="0">
                          <a:solidFill>
                            <a:schemeClr val="accent6">
                              <a:lumMod val="50000"/>
                            </a:schemeClr>
                          </a:solidFill>
                        </a:rPr>
                        <a:t>150</a:t>
                      </a:r>
                      <a:endParaRPr lang="en-IN" dirty="0">
                        <a:solidFill>
                          <a:schemeClr val="accent6">
                            <a:lumMod val="50000"/>
                          </a:schemeClr>
                        </a:solidFill>
                      </a:endParaRPr>
                    </a:p>
                  </a:txBody>
                  <a:tcPr/>
                </a:tc>
                <a:extLst>
                  <a:ext uri="{0D108BD9-81ED-4DB2-BD59-A6C34878D82A}">
                    <a16:rowId xmlns:a16="http://schemas.microsoft.com/office/drawing/2014/main" val="113216071"/>
                  </a:ext>
                </a:extLst>
              </a:tr>
              <a:tr h="471710">
                <a:tc>
                  <a:txBody>
                    <a:bodyPr/>
                    <a:lstStyle/>
                    <a:p>
                      <a:pPr algn="ctr"/>
                      <a:r>
                        <a:rPr lang="en-US" dirty="0">
                          <a:solidFill>
                            <a:schemeClr val="accent6">
                              <a:lumMod val="50000"/>
                            </a:schemeClr>
                          </a:solidFill>
                        </a:rPr>
                        <a:t>4.</a:t>
                      </a:r>
                      <a:endParaRPr lang="en-IN" dirty="0">
                        <a:solidFill>
                          <a:schemeClr val="accent6">
                            <a:lumMod val="50000"/>
                          </a:schemeClr>
                        </a:solidFill>
                      </a:endParaRPr>
                    </a:p>
                  </a:txBody>
                  <a:tcPr/>
                </a:tc>
                <a:tc>
                  <a:txBody>
                    <a:bodyPr/>
                    <a:lstStyle/>
                    <a:p>
                      <a:pPr algn="ctr"/>
                      <a:r>
                        <a:rPr lang="en-US" dirty="0">
                          <a:solidFill>
                            <a:schemeClr val="accent6">
                              <a:lumMod val="50000"/>
                            </a:schemeClr>
                          </a:solidFill>
                        </a:rPr>
                        <a:t>Breadboard</a:t>
                      </a:r>
                      <a:endParaRPr lang="en-IN" dirty="0">
                        <a:solidFill>
                          <a:schemeClr val="accent6">
                            <a:lumMod val="50000"/>
                          </a:schemeClr>
                        </a:solidFill>
                      </a:endParaRPr>
                    </a:p>
                  </a:txBody>
                  <a:tcPr/>
                </a:tc>
                <a:tc>
                  <a:txBody>
                    <a:bodyPr/>
                    <a:lstStyle/>
                    <a:p>
                      <a:pPr algn="ctr"/>
                      <a:r>
                        <a:rPr lang="en-US" dirty="0">
                          <a:solidFill>
                            <a:schemeClr val="accent6">
                              <a:lumMod val="50000"/>
                            </a:schemeClr>
                          </a:solidFill>
                        </a:rPr>
                        <a:t>100</a:t>
                      </a:r>
                      <a:endParaRPr lang="en-IN" dirty="0">
                        <a:solidFill>
                          <a:schemeClr val="accent6">
                            <a:lumMod val="50000"/>
                          </a:schemeClr>
                        </a:solidFill>
                      </a:endParaRPr>
                    </a:p>
                  </a:txBody>
                  <a:tcPr/>
                </a:tc>
                <a:extLst>
                  <a:ext uri="{0D108BD9-81ED-4DB2-BD59-A6C34878D82A}">
                    <a16:rowId xmlns:a16="http://schemas.microsoft.com/office/drawing/2014/main" val="2271222798"/>
                  </a:ext>
                </a:extLst>
              </a:tr>
              <a:tr h="471710">
                <a:tc>
                  <a:txBody>
                    <a:bodyPr/>
                    <a:lstStyle/>
                    <a:p>
                      <a:pPr algn="ctr"/>
                      <a:r>
                        <a:rPr lang="en-US" dirty="0">
                          <a:solidFill>
                            <a:schemeClr val="accent6">
                              <a:lumMod val="50000"/>
                            </a:schemeClr>
                          </a:solidFill>
                        </a:rPr>
                        <a:t>5.</a:t>
                      </a:r>
                      <a:endParaRPr lang="en-IN" dirty="0">
                        <a:solidFill>
                          <a:schemeClr val="accent6">
                            <a:lumMod val="50000"/>
                          </a:schemeClr>
                        </a:solidFill>
                      </a:endParaRPr>
                    </a:p>
                  </a:txBody>
                  <a:tcPr/>
                </a:tc>
                <a:tc>
                  <a:txBody>
                    <a:bodyPr/>
                    <a:lstStyle/>
                    <a:p>
                      <a:pPr algn="ctr"/>
                      <a:r>
                        <a:rPr lang="en-US" dirty="0">
                          <a:solidFill>
                            <a:schemeClr val="accent6">
                              <a:lumMod val="50000"/>
                            </a:schemeClr>
                          </a:solidFill>
                        </a:rPr>
                        <a:t>Jumper wires</a:t>
                      </a:r>
                      <a:endParaRPr lang="en-IN" dirty="0">
                        <a:solidFill>
                          <a:schemeClr val="accent6">
                            <a:lumMod val="50000"/>
                          </a:schemeClr>
                        </a:solidFill>
                      </a:endParaRPr>
                    </a:p>
                  </a:txBody>
                  <a:tcPr/>
                </a:tc>
                <a:tc>
                  <a:txBody>
                    <a:bodyPr/>
                    <a:lstStyle/>
                    <a:p>
                      <a:pPr algn="ctr"/>
                      <a:r>
                        <a:rPr lang="en-US" dirty="0">
                          <a:solidFill>
                            <a:schemeClr val="accent6">
                              <a:lumMod val="50000"/>
                            </a:schemeClr>
                          </a:solidFill>
                        </a:rPr>
                        <a:t>150</a:t>
                      </a:r>
                      <a:endParaRPr lang="en-IN" dirty="0">
                        <a:solidFill>
                          <a:schemeClr val="accent6">
                            <a:lumMod val="50000"/>
                          </a:schemeClr>
                        </a:solidFill>
                      </a:endParaRPr>
                    </a:p>
                  </a:txBody>
                  <a:tcPr/>
                </a:tc>
                <a:extLst>
                  <a:ext uri="{0D108BD9-81ED-4DB2-BD59-A6C34878D82A}">
                    <a16:rowId xmlns:a16="http://schemas.microsoft.com/office/drawing/2014/main" val="795685943"/>
                  </a:ext>
                </a:extLst>
              </a:tr>
              <a:tr h="471710">
                <a:tc>
                  <a:txBody>
                    <a:bodyPr/>
                    <a:lstStyle/>
                    <a:p>
                      <a:pPr algn="ctr"/>
                      <a:r>
                        <a:rPr lang="en-US" dirty="0">
                          <a:solidFill>
                            <a:schemeClr val="accent6">
                              <a:lumMod val="50000"/>
                            </a:schemeClr>
                          </a:solidFill>
                        </a:rPr>
                        <a:t>6.</a:t>
                      </a:r>
                      <a:endParaRPr lang="en-IN" dirty="0">
                        <a:solidFill>
                          <a:schemeClr val="accent6">
                            <a:lumMod val="50000"/>
                          </a:schemeClr>
                        </a:solidFill>
                      </a:endParaRPr>
                    </a:p>
                  </a:txBody>
                  <a:tcPr/>
                </a:tc>
                <a:tc>
                  <a:txBody>
                    <a:bodyPr/>
                    <a:lstStyle/>
                    <a:p>
                      <a:pPr algn="ctr"/>
                      <a:r>
                        <a:rPr lang="en-US" dirty="0">
                          <a:solidFill>
                            <a:schemeClr val="accent6">
                              <a:lumMod val="50000"/>
                            </a:schemeClr>
                          </a:solidFill>
                        </a:rPr>
                        <a:t>Power supply</a:t>
                      </a:r>
                      <a:endParaRPr lang="en-IN" dirty="0">
                        <a:solidFill>
                          <a:schemeClr val="accent6">
                            <a:lumMod val="50000"/>
                          </a:schemeClr>
                        </a:solidFill>
                      </a:endParaRPr>
                    </a:p>
                  </a:txBody>
                  <a:tcPr/>
                </a:tc>
                <a:tc>
                  <a:txBody>
                    <a:bodyPr/>
                    <a:lstStyle/>
                    <a:p>
                      <a:pPr algn="ctr"/>
                      <a:r>
                        <a:rPr lang="en-US" dirty="0">
                          <a:solidFill>
                            <a:schemeClr val="accent6">
                              <a:lumMod val="50000"/>
                            </a:schemeClr>
                          </a:solidFill>
                        </a:rPr>
                        <a:t>150</a:t>
                      </a:r>
                      <a:endParaRPr lang="en-IN" dirty="0">
                        <a:solidFill>
                          <a:schemeClr val="accent6">
                            <a:lumMod val="50000"/>
                          </a:schemeClr>
                        </a:solidFill>
                      </a:endParaRPr>
                    </a:p>
                  </a:txBody>
                  <a:tcPr/>
                </a:tc>
                <a:extLst>
                  <a:ext uri="{0D108BD9-81ED-4DB2-BD59-A6C34878D82A}">
                    <a16:rowId xmlns:a16="http://schemas.microsoft.com/office/drawing/2014/main" val="851219338"/>
                  </a:ext>
                </a:extLst>
              </a:tr>
              <a:tr h="471710">
                <a:tc>
                  <a:txBody>
                    <a:bodyPr/>
                    <a:lstStyle/>
                    <a:p>
                      <a:endParaRPr lang="en-IN">
                        <a:solidFill>
                          <a:schemeClr val="accent6">
                            <a:lumMod val="50000"/>
                          </a:schemeClr>
                        </a:solidFill>
                      </a:endParaRPr>
                    </a:p>
                  </a:txBody>
                  <a:tcPr/>
                </a:tc>
                <a:tc>
                  <a:txBody>
                    <a:bodyPr/>
                    <a:lstStyle/>
                    <a:p>
                      <a:pPr algn="ctr"/>
                      <a:r>
                        <a:rPr lang="en-US" dirty="0">
                          <a:solidFill>
                            <a:schemeClr val="accent6">
                              <a:lumMod val="50000"/>
                            </a:schemeClr>
                          </a:solidFill>
                        </a:rPr>
                        <a:t>Total</a:t>
                      </a:r>
                      <a:endParaRPr lang="en-IN" dirty="0">
                        <a:solidFill>
                          <a:schemeClr val="accent6">
                            <a:lumMod val="50000"/>
                          </a:schemeClr>
                        </a:solidFill>
                      </a:endParaRPr>
                    </a:p>
                  </a:txBody>
                  <a:tcPr/>
                </a:tc>
                <a:tc>
                  <a:txBody>
                    <a:bodyPr/>
                    <a:lstStyle/>
                    <a:p>
                      <a:pPr algn="ctr"/>
                      <a:r>
                        <a:rPr lang="en-US" dirty="0">
                          <a:solidFill>
                            <a:schemeClr val="accent6">
                              <a:lumMod val="50000"/>
                            </a:schemeClr>
                          </a:solidFill>
                        </a:rPr>
                        <a:t>900</a:t>
                      </a:r>
                      <a:endParaRPr lang="en-IN" dirty="0">
                        <a:solidFill>
                          <a:schemeClr val="accent6">
                            <a:lumMod val="50000"/>
                          </a:schemeClr>
                        </a:solidFill>
                      </a:endParaRPr>
                    </a:p>
                  </a:txBody>
                  <a:tcPr/>
                </a:tc>
                <a:extLst>
                  <a:ext uri="{0D108BD9-81ED-4DB2-BD59-A6C34878D82A}">
                    <a16:rowId xmlns:a16="http://schemas.microsoft.com/office/drawing/2014/main" val="3579018170"/>
                  </a:ext>
                </a:extLst>
              </a:tr>
            </a:tbl>
          </a:graphicData>
        </a:graphic>
      </p:graphicFrame>
    </p:spTree>
    <p:extLst>
      <p:ext uri="{BB962C8B-B14F-4D97-AF65-F5344CB8AC3E}">
        <p14:creationId xmlns:p14="http://schemas.microsoft.com/office/powerpoint/2010/main" val="4069322719"/>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C41AF01-18A1-CE9B-A026-01037B941673}"/>
              </a:ext>
            </a:extLst>
          </p:cNvPr>
          <p:cNvSpPr>
            <a:spLocks noGrp="1"/>
          </p:cNvSpPr>
          <p:nvPr>
            <p:ph idx="1"/>
          </p:nvPr>
        </p:nvSpPr>
        <p:spPr>
          <a:xfrm>
            <a:off x="838200" y="3074322"/>
            <a:ext cx="10515600" cy="1930298"/>
          </a:xfrm>
        </p:spPr>
        <p:txBody>
          <a:bodyPr/>
          <a:lstStyle/>
          <a:p>
            <a:pPr marL="0" indent="0" algn="ctr">
              <a:buNone/>
            </a:pPr>
            <a:r>
              <a:rPr lang="en-US" dirty="0">
                <a:solidFill>
                  <a:schemeClr val="accent6">
                    <a:lumMod val="50000"/>
                  </a:schemeClr>
                </a:solidFill>
              </a:rPr>
              <a:t>The project successfully demonstrates an automatic parking system using ultrasonic sensor and Arduino. It reduces manual effort and improves efficiency. The system is cost-effective and can be enhanced with advanced features like IoT in future.</a:t>
            </a:r>
            <a:endParaRPr lang="en-IN" dirty="0">
              <a:solidFill>
                <a:schemeClr val="accent6">
                  <a:lumMod val="50000"/>
                </a:schemeClr>
              </a:solidFill>
            </a:endParaRPr>
          </a:p>
        </p:txBody>
      </p:sp>
      <p:grpSp>
        <p:nvGrpSpPr>
          <p:cNvPr id="4" name="Group 3">
            <a:extLst>
              <a:ext uri="{FF2B5EF4-FFF2-40B4-BE49-F238E27FC236}">
                <a16:creationId xmlns:a16="http://schemas.microsoft.com/office/drawing/2014/main" id="{A5D3646B-4D35-6481-3808-0EDB71F3621C}"/>
              </a:ext>
            </a:extLst>
          </p:cNvPr>
          <p:cNvGrpSpPr/>
          <p:nvPr/>
        </p:nvGrpSpPr>
        <p:grpSpPr>
          <a:xfrm>
            <a:off x="838200" y="298762"/>
            <a:ext cx="10515600" cy="1324682"/>
            <a:chOff x="0" y="880"/>
            <a:chExt cx="10515600" cy="1324682"/>
          </a:xfrm>
        </p:grpSpPr>
        <p:sp>
          <p:nvSpPr>
            <p:cNvPr id="5" name="Rectangle: Rounded Corners 4">
              <a:extLst>
                <a:ext uri="{FF2B5EF4-FFF2-40B4-BE49-F238E27FC236}">
                  <a16:creationId xmlns:a16="http://schemas.microsoft.com/office/drawing/2014/main" id="{414C681F-7B0B-065A-B729-F5EC0A54A846}"/>
                </a:ext>
              </a:extLst>
            </p:cNvPr>
            <p:cNvSpPr/>
            <p:nvPr/>
          </p:nvSpPr>
          <p:spPr>
            <a:xfrm>
              <a:off x="0" y="880"/>
              <a:ext cx="10515600" cy="1324682"/>
            </a:xfrm>
            <a:prstGeom prst="roundRect">
              <a:avLst/>
            </a:prstGeom>
          </p:spPr>
          <p:style>
            <a:lnRef idx="2">
              <a:schemeClr val="lt1">
                <a:hueOff val="0"/>
                <a:satOff val="0"/>
                <a:lumOff val="0"/>
                <a:alphaOff val="0"/>
              </a:schemeClr>
            </a:lnRef>
            <a:fillRef idx="1">
              <a:schemeClr val="accent6">
                <a:shade val="80000"/>
                <a:hueOff val="0"/>
                <a:satOff val="0"/>
                <a:lumOff val="0"/>
                <a:alphaOff val="0"/>
              </a:schemeClr>
            </a:fillRef>
            <a:effectRef idx="0">
              <a:schemeClr val="accent6">
                <a:shade val="80000"/>
                <a:hueOff val="0"/>
                <a:satOff val="0"/>
                <a:lumOff val="0"/>
                <a:alphaOff val="0"/>
              </a:schemeClr>
            </a:effectRef>
            <a:fontRef idx="minor">
              <a:schemeClr val="lt1"/>
            </a:fontRef>
          </p:style>
          <p:txBody>
            <a:bodyPr/>
            <a:lstStyle/>
            <a:p>
              <a:endParaRPr lang="en-IN"/>
            </a:p>
          </p:txBody>
        </p:sp>
        <p:sp>
          <p:nvSpPr>
            <p:cNvPr id="6" name="Rectangle: Rounded Corners 4">
              <a:extLst>
                <a:ext uri="{FF2B5EF4-FFF2-40B4-BE49-F238E27FC236}">
                  <a16:creationId xmlns:a16="http://schemas.microsoft.com/office/drawing/2014/main" id="{1A435F9B-B59D-3435-47F6-643B7944E7E0}"/>
                </a:ext>
              </a:extLst>
            </p:cNvPr>
            <p:cNvSpPr txBox="1"/>
            <p:nvPr/>
          </p:nvSpPr>
          <p:spPr>
            <a:xfrm>
              <a:off x="64666" y="65546"/>
              <a:ext cx="10386268" cy="119535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67640" tIns="167640" rIns="167640" bIns="167640" numCol="1" spcCol="1270" anchor="ctr" anchorCtr="0">
              <a:noAutofit/>
            </a:bodyPr>
            <a:lstStyle/>
            <a:p>
              <a:pPr marL="0" lvl="0" indent="0" algn="ctr" defTabSz="1955800">
                <a:lnSpc>
                  <a:spcPct val="90000"/>
                </a:lnSpc>
                <a:spcBef>
                  <a:spcPct val="0"/>
                </a:spcBef>
                <a:spcAft>
                  <a:spcPct val="35000"/>
                </a:spcAft>
                <a:buNone/>
              </a:pPr>
              <a:r>
                <a:rPr lang="en-US" sz="4400" b="1" kern="1200" dirty="0"/>
                <a:t>Conclusion</a:t>
              </a:r>
              <a:endParaRPr lang="en-IN" sz="1800" kern="1200" dirty="0"/>
            </a:p>
          </p:txBody>
        </p:sp>
      </p:grpSp>
    </p:spTree>
    <p:extLst>
      <p:ext uri="{BB962C8B-B14F-4D97-AF65-F5344CB8AC3E}">
        <p14:creationId xmlns:p14="http://schemas.microsoft.com/office/powerpoint/2010/main" val="3439017048"/>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B54574-9E2A-1966-7830-08D9231B3B2E}"/>
              </a:ext>
            </a:extLst>
          </p:cNvPr>
          <p:cNvSpPr>
            <a:spLocks noGrp="1"/>
          </p:cNvSpPr>
          <p:nvPr>
            <p:ph idx="1"/>
          </p:nvPr>
        </p:nvSpPr>
        <p:spPr>
          <a:xfrm>
            <a:off x="838200" y="2199251"/>
            <a:ext cx="10515600" cy="3985240"/>
          </a:xfrm>
        </p:spPr>
        <p:txBody>
          <a:bodyPr/>
          <a:lstStyle/>
          <a:p>
            <a:r>
              <a:rPr lang="en-IN" dirty="0">
                <a:solidFill>
                  <a:schemeClr val="accent6">
                    <a:lumMod val="50000"/>
                  </a:schemeClr>
                </a:solidFill>
              </a:rPr>
              <a:t>[1] Arduino, “Arduino Official Website.” [Online]. Available: </a:t>
            </a:r>
            <a:r>
              <a:rPr lang="en-IN" dirty="0">
                <a:solidFill>
                  <a:schemeClr val="accent6">
                    <a:lumMod val="50000"/>
                  </a:schemeClr>
                </a:solidFill>
                <a:hlinkClick r:id="rId2">
                  <a:extLst>
                    <a:ext uri="{A12FA001-AC4F-418D-AE19-62706E023703}">
                      <ahyp:hlinkClr xmlns:ahyp="http://schemas.microsoft.com/office/drawing/2018/hyperlinkcolor" val="tx"/>
                    </a:ext>
                  </a:extLst>
                </a:hlinkClick>
              </a:rPr>
              <a:t>https://www.arduino.cc/</a:t>
            </a:r>
            <a:endParaRPr lang="en-IN" dirty="0">
              <a:solidFill>
                <a:schemeClr val="accent6">
                  <a:lumMod val="50000"/>
                </a:schemeClr>
              </a:solidFill>
            </a:endParaRPr>
          </a:p>
          <a:p>
            <a:r>
              <a:rPr lang="en-IN" dirty="0">
                <a:solidFill>
                  <a:schemeClr val="accent6">
                    <a:lumMod val="50000"/>
                  </a:schemeClr>
                </a:solidFill>
              </a:rPr>
              <a:t>[2] HC-SR04 Ultrasonic Sensor, “Ultrasonic Sensor Datasheet.”</a:t>
            </a:r>
          </a:p>
          <a:p>
            <a:r>
              <a:rPr lang="en-IN" dirty="0">
                <a:solidFill>
                  <a:schemeClr val="accent6">
                    <a:lumMod val="50000"/>
                  </a:schemeClr>
                </a:solidFill>
              </a:rPr>
              <a:t>[3] Embedded Systems, “Introduction to Embedded Systems,” Academic Notes.</a:t>
            </a:r>
          </a:p>
          <a:p>
            <a:r>
              <a:rPr lang="en-IN" dirty="0">
                <a:solidFill>
                  <a:schemeClr val="accent6">
                    <a:lumMod val="50000"/>
                  </a:schemeClr>
                </a:solidFill>
              </a:rPr>
              <a:t>[4] Smart Parking Systems, “Smart Parking System using Arduino,” International Journal of Engineering Research &amp; Technology (IJERT).</a:t>
            </a:r>
          </a:p>
          <a:p>
            <a:r>
              <a:rPr lang="en-IN" dirty="0">
                <a:solidFill>
                  <a:schemeClr val="accent6">
                    <a:lumMod val="50000"/>
                  </a:schemeClr>
                </a:solidFill>
              </a:rPr>
              <a:t>[5] Arduino IDE, “Arduino IDE Documentation.”</a:t>
            </a:r>
          </a:p>
          <a:p>
            <a:pPr marL="0" indent="0">
              <a:buNone/>
            </a:pPr>
            <a:endParaRPr lang="en-IN" dirty="0">
              <a:solidFill>
                <a:schemeClr val="accent6">
                  <a:lumMod val="50000"/>
                </a:schemeClr>
              </a:solidFill>
            </a:endParaRPr>
          </a:p>
        </p:txBody>
      </p:sp>
      <p:grpSp>
        <p:nvGrpSpPr>
          <p:cNvPr id="4" name="Group 3">
            <a:extLst>
              <a:ext uri="{FF2B5EF4-FFF2-40B4-BE49-F238E27FC236}">
                <a16:creationId xmlns:a16="http://schemas.microsoft.com/office/drawing/2014/main" id="{5C568FAD-1804-3CDB-C622-87E51FA27F59}"/>
              </a:ext>
            </a:extLst>
          </p:cNvPr>
          <p:cNvGrpSpPr/>
          <p:nvPr/>
        </p:nvGrpSpPr>
        <p:grpSpPr>
          <a:xfrm>
            <a:off x="838200" y="298762"/>
            <a:ext cx="10515600" cy="1324682"/>
            <a:chOff x="0" y="880"/>
            <a:chExt cx="10515600" cy="1324682"/>
          </a:xfrm>
        </p:grpSpPr>
        <p:sp>
          <p:nvSpPr>
            <p:cNvPr id="5" name="Rectangle: Rounded Corners 4">
              <a:extLst>
                <a:ext uri="{FF2B5EF4-FFF2-40B4-BE49-F238E27FC236}">
                  <a16:creationId xmlns:a16="http://schemas.microsoft.com/office/drawing/2014/main" id="{DBE502FB-7267-6A46-1CAD-4B5913A4E2B3}"/>
                </a:ext>
              </a:extLst>
            </p:cNvPr>
            <p:cNvSpPr/>
            <p:nvPr/>
          </p:nvSpPr>
          <p:spPr>
            <a:xfrm>
              <a:off x="0" y="880"/>
              <a:ext cx="10515600" cy="1324682"/>
            </a:xfrm>
            <a:prstGeom prst="roundRect">
              <a:avLst/>
            </a:prstGeom>
          </p:spPr>
          <p:style>
            <a:lnRef idx="2">
              <a:schemeClr val="lt1">
                <a:hueOff val="0"/>
                <a:satOff val="0"/>
                <a:lumOff val="0"/>
                <a:alphaOff val="0"/>
              </a:schemeClr>
            </a:lnRef>
            <a:fillRef idx="1">
              <a:schemeClr val="accent6">
                <a:shade val="80000"/>
                <a:hueOff val="0"/>
                <a:satOff val="0"/>
                <a:lumOff val="0"/>
                <a:alphaOff val="0"/>
              </a:schemeClr>
            </a:fillRef>
            <a:effectRef idx="0">
              <a:schemeClr val="accent6">
                <a:shade val="80000"/>
                <a:hueOff val="0"/>
                <a:satOff val="0"/>
                <a:lumOff val="0"/>
                <a:alphaOff val="0"/>
              </a:schemeClr>
            </a:effectRef>
            <a:fontRef idx="minor">
              <a:schemeClr val="lt1"/>
            </a:fontRef>
          </p:style>
          <p:txBody>
            <a:bodyPr/>
            <a:lstStyle/>
            <a:p>
              <a:endParaRPr lang="en-IN"/>
            </a:p>
          </p:txBody>
        </p:sp>
        <p:sp>
          <p:nvSpPr>
            <p:cNvPr id="6" name="Rectangle: Rounded Corners 4">
              <a:extLst>
                <a:ext uri="{FF2B5EF4-FFF2-40B4-BE49-F238E27FC236}">
                  <a16:creationId xmlns:a16="http://schemas.microsoft.com/office/drawing/2014/main" id="{78952781-E389-B5E8-BCF6-87FC7DABF3F9}"/>
                </a:ext>
              </a:extLst>
            </p:cNvPr>
            <p:cNvSpPr txBox="1"/>
            <p:nvPr/>
          </p:nvSpPr>
          <p:spPr>
            <a:xfrm>
              <a:off x="64666" y="65546"/>
              <a:ext cx="10386268" cy="119535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67640" tIns="167640" rIns="167640" bIns="167640" numCol="1" spcCol="1270" anchor="ctr" anchorCtr="0">
              <a:noAutofit/>
            </a:bodyPr>
            <a:lstStyle/>
            <a:p>
              <a:pPr marL="0" lvl="0" indent="0" algn="ctr" defTabSz="1955800">
                <a:lnSpc>
                  <a:spcPct val="90000"/>
                </a:lnSpc>
                <a:spcBef>
                  <a:spcPct val="0"/>
                </a:spcBef>
                <a:spcAft>
                  <a:spcPct val="35000"/>
                </a:spcAft>
                <a:buNone/>
              </a:pPr>
              <a:r>
                <a:rPr lang="en-US" sz="4400" b="1" kern="1200" dirty="0"/>
                <a:t>References</a:t>
              </a:r>
              <a:endParaRPr lang="en-IN" sz="1800" kern="1200" dirty="0"/>
            </a:p>
          </p:txBody>
        </p:sp>
      </p:grpSp>
    </p:spTree>
    <p:extLst>
      <p:ext uri="{BB962C8B-B14F-4D97-AF65-F5344CB8AC3E}">
        <p14:creationId xmlns:p14="http://schemas.microsoft.com/office/powerpoint/2010/main" val="114131585"/>
      </p:ext>
    </p:extLst>
  </p:cSld>
  <p:clrMapOvr>
    <a:masterClrMapping/>
  </p:clrMapOvr>
  <p:transition spd="slow">
    <p:wip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235</TotalTime>
  <Words>517</Words>
  <Application>Microsoft Office PowerPoint</Application>
  <PresentationFormat>Widescreen</PresentationFormat>
  <Paragraphs>128</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Nithya Santhoshi</dc:creator>
  <cp:lastModifiedBy>Nithya Santhoshi</cp:lastModifiedBy>
  <cp:revision>3</cp:revision>
  <dcterms:created xsi:type="dcterms:W3CDTF">2026-04-30T05:34:37Z</dcterms:created>
  <dcterms:modified xsi:type="dcterms:W3CDTF">2026-04-30T09:47:07Z</dcterms:modified>
</cp:coreProperties>
</file>